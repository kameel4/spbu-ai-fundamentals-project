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0" r:id="rId2"/>
    <p:sldId id="283" r:id="rId3"/>
    <p:sldId id="284" r:id="rId4"/>
    <p:sldId id="286" r:id="rId5"/>
    <p:sldId id="285" r:id="rId6"/>
    <p:sldId id="287" r:id="rId7"/>
    <p:sldId id="288" r:id="rId8"/>
    <p:sldId id="289" r:id="rId9"/>
    <p:sldId id="290" r:id="rId10"/>
    <p:sldId id="291" r:id="rId11"/>
    <p:sldId id="278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1" d="100"/>
          <a:sy n="91" d="100"/>
        </p:scale>
        <p:origin x="167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FABA-D603-46B8-94C7-F73A40963B6B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2C539-D2AA-42BB-9DB2-01C91D0B00A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201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990656" cy="1470025"/>
          </a:xfrm>
        </p:spPr>
        <p:txBody>
          <a:bodyPr>
            <a:normAutofit/>
          </a:bodyPr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88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22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03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 СЕРЫЙ ФО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2339752" y="274638"/>
            <a:ext cx="662473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Колонтитул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57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кад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436033" y="5373216"/>
            <a:ext cx="314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Санкт-Петербургский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государственный</a:t>
            </a:r>
            <a:r>
              <a:rPr lang="ru-RU" baseline="0" dirty="0">
                <a:solidFill>
                  <a:schemeClr val="bg1"/>
                </a:solidFill>
              </a:rPr>
              <a:t> университет</a:t>
            </a:r>
            <a:br>
              <a:rPr lang="ru-RU" baseline="0" dirty="0">
                <a:solidFill>
                  <a:schemeClr val="bg1"/>
                </a:solidFill>
              </a:rPr>
            </a:br>
            <a:r>
              <a:rPr lang="en-US" b="1" baseline="0" dirty="0">
                <a:solidFill>
                  <a:schemeClr val="bg1"/>
                </a:solidFill>
              </a:rPr>
              <a:t>spbu.ru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77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EAB62-4EEE-43F2-A223-FD26436F8458}" type="datetime1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03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5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132856"/>
            <a:ext cx="7990656" cy="1470025"/>
          </a:xfrm>
        </p:spPr>
        <p:txBody>
          <a:bodyPr/>
          <a:lstStyle/>
          <a:p>
            <a:r>
              <a:rPr lang="en-US" dirty="0"/>
              <a:t>Adult Census Income Prediction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660232" y="5733256"/>
            <a:ext cx="227684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Выполнили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 err="1">
                <a:solidFill>
                  <a:schemeClr val="bg1"/>
                </a:solidFill>
              </a:rPr>
              <a:t>Хисяметдинов</a:t>
            </a:r>
            <a:r>
              <a:rPr lang="ru-RU" dirty="0">
                <a:solidFill>
                  <a:schemeClr val="bg1"/>
                </a:solidFill>
              </a:rPr>
              <a:t> Марат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Шаймиев </a:t>
            </a:r>
            <a:r>
              <a:rPr lang="ru-RU" dirty="0" err="1">
                <a:solidFill>
                  <a:schemeClr val="bg1"/>
                </a:solidFill>
              </a:rPr>
              <a:t>Камиль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7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Задача - построить модель бинарной классификации, которая по социально-демографическим и рабочим признакам человека предсказывает, превышает ли его годовой доход 50 тысяч долларов.</a:t>
            </a:r>
          </a:p>
          <a:p>
            <a:r>
              <a:rPr lang="ru-RU" dirty="0"/>
              <a:t>Положительным классом считаем &gt;50K, потому что он встречается реже и представляет больший интерес для анализа.</a:t>
            </a:r>
          </a:p>
          <a:p>
            <a:r>
              <a:rPr lang="ru-RU" dirty="0"/>
              <a:t>Мы хотим не просто получить высокую </a:t>
            </a:r>
            <a:r>
              <a:rPr lang="ru-RU" dirty="0" err="1"/>
              <a:t>accuracy</a:t>
            </a:r>
            <a:r>
              <a:rPr lang="ru-RU" dirty="0"/>
              <a:t>, а построить воспроизводимый ML-</a:t>
            </a:r>
            <a:r>
              <a:rPr lang="ru-RU" dirty="0" err="1"/>
              <a:t>пайплайн</a:t>
            </a:r>
            <a:r>
              <a:rPr lang="ru-RU" dirty="0"/>
              <a:t>, сравнить несколько классических моделей и выбрать лучшую по метрикам, устойчивым к дисбалансу классов.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694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ДАННЫЕ МЫ ИМЕЕМ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Adult Census Income Dataset</a:t>
            </a:r>
          </a:p>
          <a:p>
            <a:r>
              <a:rPr lang="en-US" sz="1600" dirty="0"/>
              <a:t>48842 </a:t>
            </a:r>
            <a:r>
              <a:rPr lang="ru-RU" sz="1600" dirty="0"/>
              <a:t>объекта</a:t>
            </a:r>
          </a:p>
          <a:p>
            <a:r>
              <a:rPr lang="ru-RU" sz="1600" dirty="0"/>
              <a:t>14 признаков</a:t>
            </a:r>
          </a:p>
          <a:p>
            <a:r>
              <a:rPr lang="en-US" sz="1600" dirty="0"/>
              <a:t>Target: &lt;=50K / &gt;50K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ru-RU" sz="1600" dirty="0"/>
              <a:t>Признаки:</a:t>
            </a:r>
          </a:p>
          <a:p>
            <a:r>
              <a:rPr lang="ru-RU" sz="1600" dirty="0"/>
              <a:t>числовые: </a:t>
            </a:r>
            <a:r>
              <a:rPr lang="en-US" sz="1600" dirty="0"/>
              <a:t>age, </a:t>
            </a:r>
            <a:r>
              <a:rPr lang="en-US" sz="1600" dirty="0" err="1"/>
              <a:t>education_num</a:t>
            </a:r>
            <a:r>
              <a:rPr lang="en-US" sz="1600" dirty="0"/>
              <a:t>, 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   </a:t>
            </a:r>
            <a:r>
              <a:rPr lang="en-US" sz="1600" dirty="0" err="1"/>
              <a:t>hours_per_week</a:t>
            </a:r>
            <a:r>
              <a:rPr lang="en-US" sz="1600" dirty="0"/>
              <a:t>, </a:t>
            </a:r>
            <a:r>
              <a:rPr lang="en-US" sz="1600" dirty="0" err="1"/>
              <a:t>capital_gain</a:t>
            </a:r>
            <a:r>
              <a:rPr lang="en-US" sz="1600" dirty="0"/>
              <a:t>/loss</a:t>
            </a:r>
          </a:p>
          <a:p>
            <a:r>
              <a:rPr lang="ru-RU" sz="1600" dirty="0"/>
              <a:t>категориальные: </a:t>
            </a:r>
            <a:r>
              <a:rPr lang="en-US" sz="1600" dirty="0" err="1"/>
              <a:t>workclass</a:t>
            </a:r>
            <a:r>
              <a:rPr lang="en-US" sz="1600" dirty="0"/>
              <a:t>, education, 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   </a:t>
            </a:r>
            <a:r>
              <a:rPr lang="en-US" sz="1600" dirty="0"/>
              <a:t>occupation, sex, race, </a:t>
            </a:r>
            <a:r>
              <a:rPr lang="en-US" sz="1600" dirty="0" err="1"/>
              <a:t>native_country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ru-RU" sz="1600" dirty="0"/>
              <a:t>Особенности:</a:t>
            </a:r>
          </a:p>
          <a:p>
            <a:r>
              <a:rPr lang="ru-RU" sz="1600" dirty="0"/>
              <a:t>пропуски обозначены как ?</a:t>
            </a:r>
          </a:p>
          <a:p>
            <a:r>
              <a:rPr lang="ru-RU" sz="1600" dirty="0"/>
              <a:t>есть дисбаланс классов</a:t>
            </a:r>
            <a:r>
              <a:rPr lang="en-US" sz="1600" dirty="0"/>
              <a:t> (</a:t>
            </a:r>
            <a:r>
              <a:rPr lang="ru-RU" sz="1600" dirty="0"/>
              <a:t>показан на изображении)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3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196752"/>
            <a:ext cx="3774419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4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разведочный анализ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Линейные корреляции между числовыми признаками в целом слабые, поэтому одного простого линейного правила недостаточно.</a:t>
            </a:r>
          </a:p>
          <a:p>
            <a:r>
              <a:rPr lang="ru-RU" dirty="0"/>
              <a:t>Распределения </a:t>
            </a:r>
            <a:r>
              <a:rPr lang="ru-RU" dirty="0" err="1"/>
              <a:t>capital_gain</a:t>
            </a:r>
            <a:r>
              <a:rPr lang="ru-RU" dirty="0"/>
              <a:t> и </a:t>
            </a:r>
            <a:r>
              <a:rPr lang="ru-RU" dirty="0" err="1"/>
              <a:t>capital_loss</a:t>
            </a:r>
            <a:r>
              <a:rPr lang="ru-RU" dirty="0"/>
              <a:t> сильно скошены: у большинства объектов значения равны нулю, но есть редкие большие выбросы.</a:t>
            </a:r>
          </a:p>
          <a:p>
            <a:r>
              <a:rPr lang="ru-RU" dirty="0"/>
              <a:t>Класс &gt;50K в среднем отличается по нескольким признакам: выше </a:t>
            </a:r>
            <a:r>
              <a:rPr lang="ru-RU" dirty="0" err="1"/>
              <a:t>education_num</a:t>
            </a:r>
            <a:r>
              <a:rPr lang="ru-RU" dirty="0"/>
              <a:t>, больше </a:t>
            </a:r>
            <a:r>
              <a:rPr lang="ru-RU" dirty="0" err="1"/>
              <a:t>age</a:t>
            </a:r>
            <a:r>
              <a:rPr lang="ru-RU" dirty="0"/>
              <a:t> и чаще больше </a:t>
            </a:r>
            <a:r>
              <a:rPr lang="ru-RU" dirty="0" err="1"/>
              <a:t>hours_per_week</a:t>
            </a:r>
            <a:r>
              <a:rPr lang="ru-RU" dirty="0"/>
              <a:t>.</a:t>
            </a:r>
          </a:p>
          <a:p>
            <a:r>
              <a:rPr lang="ru-RU" dirty="0"/>
              <a:t>По </a:t>
            </a:r>
            <a:r>
              <a:rPr lang="ru-RU" dirty="0" err="1"/>
              <a:t>boxplot</a:t>
            </a:r>
            <a:r>
              <a:rPr lang="ru-RU" dirty="0"/>
              <a:t> видно, что признаки не разделяют классы идеально, но дают полезный сигнал для модели.</a:t>
            </a:r>
          </a:p>
          <a:p>
            <a:r>
              <a:rPr lang="ru-RU" dirty="0"/>
              <a:t>Вывод: данные содержат нелинейные зависимости и выбросы, поэтому кроме линейной модели стоит проверить деревья и ансамблевые методы.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419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разведочный анализ данных</a:t>
            </a:r>
            <a:r>
              <a:rPr lang="en-US" dirty="0"/>
              <a:t>. Plots and heatmap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4537720"/>
            <a:ext cx="7618040" cy="1847963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5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760"/>
            <a:ext cx="4922156" cy="291974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354" y="1268760"/>
            <a:ext cx="3799905" cy="32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5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</a:t>
            </a:r>
            <a:r>
              <a:rPr lang="ru-RU" dirty="0"/>
              <a:t>и</a:t>
            </a:r>
            <a:r>
              <a:rPr lang="en-US" dirty="0"/>
              <a:t> Feature Engineering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6</a:t>
            </a:fld>
            <a:endParaRPr lang="ru-RU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2D919755-F922-662C-69EA-F3B2E1911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09317"/>
              </p:ext>
            </p:extLst>
          </p:nvPr>
        </p:nvGraphicFramePr>
        <p:xfrm>
          <a:off x="359532" y="1268760"/>
          <a:ext cx="8424936" cy="3093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12468">
                  <a:extLst>
                    <a:ext uri="{9D8B030D-6E8A-4147-A177-3AD203B41FA5}">
                      <a16:colId xmlns:a16="http://schemas.microsoft.com/office/drawing/2014/main" val="3540886751"/>
                    </a:ext>
                  </a:extLst>
                </a:gridCol>
                <a:gridCol w="4212468">
                  <a:extLst>
                    <a:ext uri="{9D8B030D-6E8A-4147-A177-3AD203B41FA5}">
                      <a16:colId xmlns:a16="http://schemas.microsoft.com/office/drawing/2014/main" val="2020796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Preprocessing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Engineering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34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Обрезка строк до содержимого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Is_married</a:t>
                      </a:r>
                      <a:r>
                        <a:rPr lang="en-US" sz="1400" dirty="0"/>
                        <a:t>: {0, 1}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0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Удаление точки из </a:t>
                      </a:r>
                      <a:r>
                        <a:rPr lang="en-US" sz="1400" dirty="0"/>
                        <a:t>“income”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Native_country_group</a:t>
                      </a:r>
                      <a:r>
                        <a:rPr lang="en-US" sz="1400" dirty="0"/>
                        <a:t>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{United-States, Other, Unknown}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22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Замена пропусков</a:t>
                      </a:r>
                      <a:r>
                        <a:rPr lang="en-US" sz="1400" dirty="0"/>
                        <a:t>:</a:t>
                      </a:r>
                      <a:r>
                        <a:rPr lang="ru-RU" sz="1400" dirty="0"/>
                        <a:t>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Unknown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 категорий, 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median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 чисел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Workclass_group</a:t>
                      </a:r>
                      <a:r>
                        <a:rPr lang="en-US" sz="1400" dirty="0"/>
                        <a:t>:</a:t>
                      </a:r>
                    </a:p>
                    <a:p>
                      <a:r>
                        <a:rPr lang="en-US" sz="1400" dirty="0"/>
                        <a:t>{Private, Government, Self-employed, Other, Unknown}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966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OneHotEncoder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hours_per_week_bin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part_time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&lt;=34,     full_time_40    35-40,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over_40      </a:t>
                      </a: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41-50,     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extreme               &gt; 50}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77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StandartScaler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capital_net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capital_gain</a:t>
                      </a:r>
                      <a:r>
                        <a:rPr lang="en-US" sz="1400" dirty="0"/>
                        <a:t> - </a:t>
                      </a:r>
                      <a:r>
                        <a:rPr lang="en-US" sz="1400" dirty="0" err="1"/>
                        <a:t>capital_loss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09018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E42161-DB15-BED0-46BF-54D803D16889}"/>
              </a:ext>
            </a:extLst>
          </p:cNvPr>
          <p:cNvSpPr txBox="1"/>
          <p:nvPr/>
        </p:nvSpPr>
        <p:spPr>
          <a:xfrm>
            <a:off x="251520" y="4581128"/>
            <a:ext cx="84941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/>
              <a:t>Preprocessing</a:t>
            </a:r>
            <a:r>
              <a:rPr lang="ru-RU" dirty="0"/>
              <a:t>: мы очищаем данные и приводим признаки к формату, с которым</a:t>
            </a:r>
            <a:endParaRPr lang="en-US" dirty="0"/>
          </a:p>
          <a:p>
            <a:r>
              <a:rPr lang="ru-RU" dirty="0"/>
              <a:t>корректно работают модели: убираем пробелы, обрабатываем пропуски, кодируем</a:t>
            </a:r>
            <a:endParaRPr lang="en-US" dirty="0"/>
          </a:p>
          <a:p>
            <a:r>
              <a:rPr lang="ru-RU" dirty="0"/>
              <a:t>категории и масштабируем числа.</a:t>
            </a:r>
            <a:endParaRPr lang="en-US" dirty="0"/>
          </a:p>
          <a:p>
            <a:endParaRPr lang="ru-RU" dirty="0"/>
          </a:p>
          <a:p>
            <a:r>
              <a:rPr lang="ru-RU" b="1" dirty="0" err="1"/>
              <a:t>Feature</a:t>
            </a:r>
            <a:r>
              <a:rPr lang="ru-RU" b="1" dirty="0"/>
              <a:t> Engineering</a:t>
            </a:r>
            <a:r>
              <a:rPr lang="ru-RU" dirty="0"/>
              <a:t>: мы создаём новые осмысленные признаки из существующих,</a:t>
            </a:r>
            <a:endParaRPr lang="en-US" dirty="0"/>
          </a:p>
          <a:p>
            <a:r>
              <a:rPr lang="ru-RU" dirty="0"/>
              <a:t>чтобы модель могла лучше уловить важные закономерности в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765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Использованные 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DummyClassifier</a:t>
            </a:r>
            <a:r>
              <a:rPr lang="en-US" dirty="0"/>
              <a:t> — </a:t>
            </a:r>
            <a:r>
              <a:rPr lang="ru-RU" dirty="0"/>
              <a:t>наивный </a:t>
            </a:r>
            <a:r>
              <a:rPr lang="en-US" dirty="0"/>
              <a:t>baseline, </a:t>
            </a:r>
            <a:r>
              <a:rPr lang="ru-RU" dirty="0"/>
              <a:t>нужен как точка отсчёта.</a:t>
            </a:r>
          </a:p>
          <a:p>
            <a:endParaRPr lang="ru-RU" dirty="0"/>
          </a:p>
          <a:p>
            <a:r>
              <a:rPr lang="en-US" dirty="0" err="1"/>
              <a:t>LogisticRegression</a:t>
            </a:r>
            <a:r>
              <a:rPr lang="en-US" dirty="0"/>
              <a:t> — </a:t>
            </a:r>
            <a:r>
              <a:rPr lang="ru-RU" dirty="0"/>
              <a:t>простая интерпретируемая линейная модель.</a:t>
            </a:r>
          </a:p>
          <a:p>
            <a:endParaRPr lang="ru-RU" dirty="0"/>
          </a:p>
          <a:p>
            <a:r>
              <a:rPr lang="en-US" dirty="0" err="1"/>
              <a:t>KNeighborsClassifier</a:t>
            </a:r>
            <a:r>
              <a:rPr lang="en-US" dirty="0"/>
              <a:t> — </a:t>
            </a:r>
            <a:r>
              <a:rPr lang="ru-RU" dirty="0"/>
              <a:t>классификация по ближайшим похожим объектам.</a:t>
            </a:r>
          </a:p>
          <a:p>
            <a:endParaRPr lang="ru-RU" dirty="0"/>
          </a:p>
          <a:p>
            <a:r>
              <a:rPr lang="en-US" dirty="0" err="1"/>
              <a:t>DecisionTreeClassifier</a:t>
            </a:r>
            <a:r>
              <a:rPr lang="en-US" dirty="0"/>
              <a:t> — </a:t>
            </a:r>
            <a:r>
              <a:rPr lang="ru-RU" dirty="0"/>
              <a:t>базовая нелинейная модель в виде дерева правил.</a:t>
            </a:r>
          </a:p>
          <a:p>
            <a:endParaRPr lang="ru-RU" dirty="0"/>
          </a:p>
          <a:p>
            <a:r>
              <a:rPr lang="en-US" dirty="0" err="1"/>
              <a:t>RandomForestClassifier</a:t>
            </a:r>
            <a:r>
              <a:rPr lang="en-US" dirty="0"/>
              <a:t> — </a:t>
            </a:r>
            <a:r>
              <a:rPr lang="ru-RU" dirty="0"/>
              <a:t>ансамбль деревьев, более устойчивый к переобучению.</a:t>
            </a:r>
          </a:p>
          <a:p>
            <a:endParaRPr lang="ru-RU" dirty="0"/>
          </a:p>
          <a:p>
            <a:r>
              <a:rPr lang="en-US" dirty="0" err="1"/>
              <a:t>GradientBoostingClassifier</a:t>
            </a:r>
            <a:r>
              <a:rPr lang="en-US" dirty="0"/>
              <a:t> — </a:t>
            </a:r>
            <a:r>
              <a:rPr lang="ru-RU" dirty="0"/>
              <a:t>последовательный ансамбль деревьев, где каждое новое дерево исправляет ошибки предыдущих.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33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ru-RU" dirty="0" err="1"/>
              <a:t>валидация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954" y="10632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Для оценки качества мы использовали</a:t>
            </a:r>
          </a:p>
          <a:p>
            <a:pPr marL="0" indent="0">
              <a:buNone/>
            </a:pPr>
            <a:r>
              <a:rPr lang="ru-RU" sz="1600" dirty="0"/>
              <a:t> </a:t>
            </a:r>
            <a:r>
              <a:rPr lang="ru-RU" sz="1600" dirty="0" err="1"/>
              <a:t>stratified</a:t>
            </a:r>
            <a:r>
              <a:rPr lang="ru-RU" sz="1600" dirty="0"/>
              <a:t> </a:t>
            </a:r>
            <a:r>
              <a:rPr lang="ru-RU" sz="1600" dirty="0" err="1"/>
              <a:t>train</a:t>
            </a:r>
            <a:r>
              <a:rPr lang="ru-RU" sz="1600" dirty="0"/>
              <a:t>/</a:t>
            </a:r>
            <a:r>
              <a:rPr lang="ru-RU" sz="1600" dirty="0" err="1"/>
              <a:t>test</a:t>
            </a:r>
            <a:r>
              <a:rPr lang="ru-RU" sz="1600" dirty="0"/>
              <a:t> </a:t>
            </a:r>
            <a:r>
              <a:rPr lang="ru-RU" sz="1600" dirty="0" err="1"/>
              <a:t>split</a:t>
            </a:r>
            <a:r>
              <a:rPr lang="ru-RU" sz="1600" dirty="0"/>
              <a:t>, чтобы сохранить доли </a:t>
            </a:r>
          </a:p>
          <a:p>
            <a:pPr marL="0" indent="0">
              <a:buNone/>
            </a:pPr>
            <a:r>
              <a:rPr lang="ru-RU" sz="1600" dirty="0"/>
              <a:t>Классов &lt;=50K и &gt;50K.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Для подбора </a:t>
            </a:r>
            <a:r>
              <a:rPr lang="ru-RU" sz="1600" dirty="0" err="1"/>
              <a:t>гиперпараметров</a:t>
            </a:r>
            <a:r>
              <a:rPr lang="ru-RU" sz="1600" dirty="0"/>
              <a:t> использовался </a:t>
            </a:r>
          </a:p>
          <a:p>
            <a:pPr marL="0" indent="0">
              <a:buNone/>
            </a:pPr>
            <a:r>
              <a:rPr lang="ru-RU" sz="1600" dirty="0" err="1"/>
              <a:t>GridSearchCV</a:t>
            </a:r>
            <a:r>
              <a:rPr lang="ru-RU" sz="1600" dirty="0"/>
              <a:t> с </a:t>
            </a:r>
            <a:r>
              <a:rPr lang="ru-RU" sz="1600" dirty="0" err="1"/>
              <a:t>StratifiedKFold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endParaRPr lang="ru-RU" sz="1600" dirty="0"/>
          </a:p>
          <a:p>
            <a:pPr marL="0" indent="0">
              <a:buNone/>
            </a:pPr>
            <a:r>
              <a:rPr lang="ru-RU" sz="1600" dirty="0"/>
              <a:t>Основные метрики:</a:t>
            </a:r>
          </a:p>
          <a:p>
            <a:r>
              <a:rPr lang="ru-RU" sz="1600" dirty="0" err="1"/>
              <a:t>Accuracy</a:t>
            </a:r>
            <a:r>
              <a:rPr lang="ru-RU" sz="1600" dirty="0"/>
              <a:t> — общая доля правильных ответов, но она может быть обманчивой при дисбалансе.</a:t>
            </a:r>
          </a:p>
          <a:p>
            <a:r>
              <a:rPr lang="ru-RU" sz="1600" dirty="0" err="1"/>
              <a:t>Precision</a:t>
            </a:r>
            <a:r>
              <a:rPr lang="ru-RU" sz="1600" dirty="0"/>
              <a:t> — насколько точны предсказания класса &gt;50K.</a:t>
            </a:r>
          </a:p>
          <a:p>
            <a:r>
              <a:rPr lang="ru-RU" sz="1600" dirty="0" err="1"/>
              <a:t>Recall</a:t>
            </a:r>
            <a:r>
              <a:rPr lang="ru-RU" sz="1600" dirty="0"/>
              <a:t> — какую долю настоящих &gt;50K модель смогла найти.</a:t>
            </a:r>
          </a:p>
          <a:p>
            <a:r>
              <a:rPr lang="ru-RU" sz="1600" dirty="0"/>
              <a:t>F1-score — баланс между </a:t>
            </a:r>
            <a:r>
              <a:rPr lang="ru-RU" sz="1600" dirty="0" err="1"/>
              <a:t>precision</a:t>
            </a:r>
            <a:r>
              <a:rPr lang="ru-RU" sz="1600" dirty="0"/>
              <a:t> и </a:t>
            </a:r>
            <a:r>
              <a:rPr lang="ru-RU" sz="1600" dirty="0" err="1"/>
              <a:t>recall</a:t>
            </a:r>
            <a:r>
              <a:rPr lang="ru-RU" sz="1600" dirty="0"/>
              <a:t>.</a:t>
            </a:r>
          </a:p>
          <a:p>
            <a:r>
              <a:rPr lang="ru-RU" sz="1600" dirty="0"/>
              <a:t>ROC-AUC — насколько хорошо модель отделяет &gt;50K от &lt;=50K по вероятностям.</a:t>
            </a:r>
          </a:p>
          <a:p>
            <a:r>
              <a:rPr lang="ru-RU" sz="1600" dirty="0"/>
              <a:t>Главный акцент: ROC-AUC и F1-score, потому что классы </a:t>
            </a:r>
            <a:r>
              <a:rPr lang="ru-RU" sz="1600" dirty="0" err="1"/>
              <a:t>несбалансированы</a:t>
            </a:r>
            <a:r>
              <a:rPr lang="ru-RU" sz="1600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8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122" y="1052736"/>
            <a:ext cx="4482252" cy="283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1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Метрики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ru-RU" dirty="0" err="1"/>
              <a:t>валидация</a:t>
            </a:r>
            <a:r>
              <a:rPr lang="en-US" dirty="0"/>
              <a:t>. </a:t>
            </a:r>
            <a:r>
              <a:rPr lang="ru-RU" dirty="0"/>
              <a:t>Результаты </a:t>
            </a:r>
            <a:r>
              <a:rPr lang="en-US" dirty="0"/>
              <a:t>5foldcv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6054" y="2219670"/>
            <a:ext cx="8229600" cy="45259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9</a:t>
            </a:fld>
            <a:endParaRPr lang="ru-RU" dirty="0"/>
          </a:p>
        </p:txBody>
      </p:sp>
      <p:sp>
        <p:nvSpPr>
          <p:cNvPr id="5" name="AutoShape 2" descr="data:image/png;base64,iVBORw0KGgoAAAANSUhEUgAABWgAAAPWCAYAAAB9Y3F7AAAAOnRFWHRTb2Z0d2FyZQBNYXRwbG90bGliIHZlcnNpb24zLjEwLjcsIGh0dHBzOi8vbWF0cGxvdGxpYi5vcmcvTLEjVAAAAAlwSFlzAAAPYQAAD2EBqD+naQABAABJREFUeJzs3QmclfP7//Gr0kpka6FSok0oWrSoFIkWZfkqSkl2UvZdKkRFhSLKlmxliSJEtrRZsrRJqxZCG61q/o/39fvfx5lpSjNz5txnznk9H495zMyZMzP3ue9z35/P57qvz/XJl5aWlmYAAAAAAAAAgLjLH/9/CQAAAAAAAAAQArQAAAAAAAAAEBICtAAAAAAAAAAQEgK0AAAAAAAAABASArQAAAAAAAAAEBICtAAAAAAAAAAQEgK0AAAAAAAAABASArQAAAAAAAAAEBICtAAAAAAAAAAQEgK0AADkUbfeeqtVqVIl8tGtW7ddnvPYY4+le06zZs1yZVuqV6/uf79z587Z+n39XrCNyJ7XX389sg/1dTJYtGhRuvdvxo+99dJLL9npp59uNWrUsJNOOskeeOCBLG/Lo48+Gvm/06dP/8/nDxs2LEvPR/bt7tgEj+3tdSmn17HA8uXL7a+//op8r20KtkXbCgAAkBEBWgAAksRXX31l27ZtS/fYtGnTQtseIKfmz58fk/Oid+/etmTJEtu+fbutXbvWPwOxtm7dOg/+n3HGGf41AADA3tpnr58JAAAS2pYtWzwYVb9+ff9+8+bN9u2334a9WYgTBYUaNGjgXx9wwAGWTAHaAw880N58881s/Y3oc+CKK66w9u3bW9GiRWO2jUhcn3zyiX8uVKhQXP7fgw8+mGn2eq1atSLbst9++8VlWwAAQN5CgBYAgCRw+OGH24oVK+zLL7+MBGhnzZoVyRQsW7as/fLLLyFvJXKTgo7JFngMArTlypWz0qVLZ+tv6EZFQOdGhQoVYrZ9SGzZfc9kV1paWqaPK0Ac720BAAB5CyUOAABIAvXq1fPPX3zxReQxBWuD4Oxhhx2229997733rGvXrv43jj32WDvzzDNtyJAh6WooRtcEveaaa6x27dqeFaav9xT4/fnnn61nz55e91N/u2XLlvb444/b1q1bc/R6v/vuO//fCrjp7zZv3tzuvvtuW7ly5S7P/f777+2GG26wk08+2WuQNmnSxO644w6vE7m7Gq7z5s2zoUOH2imnnGLHHXec/e9//4uUkNDjjRs3tuOPP94fz1hfVHV+9Teuuuoq/9/at9pX2gd33nmn/fnnn7sEdZ5//nnP7KxTp45vo7b1+uuv9/0X0H4Otm/kyJF28803+zbUrVvXpkyZstsatKtXr/bXq9eiv63Xo2zbRx55JNPjsHjxYrvrrrsiz2/YsKH16tXL90m06O0ZPXq0Zwief/75/veVyauyAhnfQ9F1k/fmhkF0gPaff/7xfbdz507bWxlrfnbp0mWX/52V939mdPyeffZZ36faX6p1++KLL1pW6dy66aabrFGjRv53mjZt6u/bn376aa/fA1l9TdqX2na99/QePeaYY/x4X3vtten+r+i9oprWrVq18mOs5+pc0jFdtWrVf76+Dz/8MLLtw4cPT/cznVfaVv1M51Rg4cKFvg+0L7RPdN05++yz7bnnntur98HuatBm9Tqm97b2p/aNtkPbevHFF0eyYoPz/o033oh8r2tSUPN7TzVodUx0bLRfdSy1TXqffvDBB7tsR3Bt6dGjh78GXWNOPPFEfw3KDte5CwAA8iYyaAEASAIK0CgoN2fOHFu/fr1PcQ/qz+pnuws+KKj5yiuvpHtMQUEtcKQgzwsvvGCHHHKIP66AgIInGzdujDxXQQRNIc8sWKIgqoIaf//9d+QxBRAU4FTw+JlnnrGCBQtm+bXqfypgGF1HVK9Pr0NBqpdffjkSkNa0eAUnFdyLDliOHTvWX9+TTz7pAZGMFChbsGBB5PvZs2db9+7dPdgVHZDV45dffrlNnDhxlyC49mOnTp289IRs2rTJXnvtNc9s1v8Ppjo/9NBDNmrUqHS/+9tvv9mECRNs6tSpNmnSpF1KFjzxxBO2YcMG/3rHjh1Ws2ZN++ijj3Z5HQr+dOzYcZfAtY6l/oYCoPocUIBfwSpta+D333/316f9rm1VsC8j/fzrr7+OZBAqmKeFufR39DvZoW0PtnvmzJkeiNK+1L7Qa9J2Zuf9k933/+7cc8896f6Gat326dPHSpYsudfb8c033/gif9H7XUHPd955x9/T2g4tYPVf74Gsvqb+/ft7sDOajvf777/v73O9X4844gh/XDcMFGSNpnNJQckZM2b49adEiRK7fY0K+JcqVcp+/fVXe+utt+zKK6+M/Ezv3aBmq4L8wTl94YUXpqvlqnP+xx9/9A+9P66++mrLqqxex/SaFbCO/pm2SeemrmPan7qxkh3aFxdccEG667Pe47p260OB2ttvv32X39N1NONr+Pjjjz2oruvFPvswxAMAIK8hgxYAgCTKoFUQQQN7BRDmzp2b7mcZKQAYBHKqVavmmXTjx4/3oGoQyLjlllsizx80aFAkINCuXTsPsiiLT9PqM07t1fcKjCo4q/qhyrxTcEiZmfnz5/eAW3ayDPX3lIWqQM3+++9vAwcO9L972223Wb58+TzgEWSoKUNWwSoFZ7UNAwYM8ECiAmrFihXzAI8CL5llSipgoterAJmyBEXBMwVX9fv6O6eeempkCv2nn366y99QoK5y5co2ZswYGzdunGffBcGVESNG+Nf630G2qwJYOib629q/ogWtFLzLSIE5BczeffddGzx48G4DYwq4BkFO7SMF3nSMlckseo8sW7Yssi3KVtTr1DHVvtO2aD8cdNBBvs+VLZlZsF/ZxcpS1POVmRsEiPR6oheu0zYo61AfZcqU2eOxVvA4eF8pYB0EunUDQsFJbet/CTIfA9pXwf/O6vs/M8oqDv6G9pFuPujvKpivbd4beo0Kwmm/K+Cs95fe06pnqqnxOi4KpO7NeyCrr0kBWFHWrm5mKBjZr18/K1CggAd9g4CsMpeDr8866yw/L/Re0o2S4LyMzt7PjP5mkB2rc0A3NwJB5mnx4sUjNwB0fdGx1j5Qhqn+/9NPP2377ruv/zyzGxJ7IyvXMVF2uK6r5cuX95s/Cubq2iZ6frAd2u/BeRV8nzFQnpGOe3A+XXTRRb4tOmbKThYFz3VMM9LNI2Xy6kaPjqEC36K/pWsrAADIe7i9CgBAElD2ZlBnNgiUBBlfCtAqQJhZ4EEUFNKU4yBgpiDa0qVLPSPr888/92CKppjr66De7X333RcJwmkqu7L/MgbXggxUTZ9W5qkoqBlk5ykoEx082xvKWgsy6vQ/27Rp419XrFjRA7QKUgWZhgpeBFP4FWwMAj+VKlXyYJ8CYAo8KQASZO0FzjnnHGvdurV/raBSMJVZpQeU8RY8HgStFEjNSNujwJn2lzz88MMehFUgTr+n4JqyaBVQ13FTZqiCznp90XVSM1sNXn9Tmbty5JFH7nZ/RQduleGqIJMyURWs1jGMXrBIgb7gdSgzUdmLwf7Se0TTqrU/X331Vd/2aApEB0ErPV+BJmV+KjiuvxkEkPQa93YBMwV2lRW6Zs0au+yyyzz49ccff3h2szIolSmo94PKKSiQF11rVhRwU93P6NeoIGpQCzQr73+9vzITXVZA+0TlDUTbqKB1ZsH1jBQkV+A0CBgG7y/9T53D+tC09r15D2T1NenGhd6PCtIrg1QlQ8477zyfnq99FdANjcKFC/vxV9mBH374wa8rmlav8yD6uUFmbUZ6jv62tkvvC53/mtKv4xtcWxT8Deoo6z2o64MC3cG+ULD60EMP9YCwjnlW6f9m5TomCpjqOqH3o9472gd6jweC7dB2RdeAVpayHtsdHY9gW1QyJTh/RPvotNNO8/+lDF2VP8h4bdH1JNjvyrQNMtW1PwEAQN5DgBYAgCQRlDLQtFtlqYoCq7vLVAxqiir4kfE5CnopmBMEWxXkCjIYlbkVPYVWQZaMomshavp+xin8oum4CnpkZYV1ZaUGlCEYTUGKzOqXBq8n4+vL7HmB6KBnkLEn0YGZ6MejSygENMU9CM4GwVL9XQW3orNQlZmqrLfPPvvMy0JkzFDNbNr10UcfbXv7nlDNTmXpKqCpDwV3jjrqqEiwWe8Ria4xm3F/Bdm/u9tf0ftFogN20aUoskLBwmDBu+h9qMzZIJCmfaZtfeCBB9LV/wxuDGSWeZqd9//uArTRpSMyngcKLu9NgHZP72kdu93J7D2Q1dekjHYFlhWgVYAyOHYKvipYrNqvUqRIEc9cv/feez04rkxqUcBSx+jcc89NVyokyDqPpjrL+ru6SaEsVN0QUAapMnyD8ye6/qxo4cO3337bM9f12qJLQGSlFnFANwuych0LqHSMbizpeOraFv2ezs52/Nf5phsaOqf0fzM733SMos+x6K8zuxYBAIDER4kDAACSRFDKQMEWTZEOAnS7s6c6hdFTfRXQ08fuAhKaupyVvx3QFOqsZsFFb9d/BSIy267MRL+2gAJSgSDYLdEZcv8lemp/xu0P/qcCTsreDab+q5Zl3759PRC2J9FZoXui/6PgpbKJNe1eQSntFwXHFTRXlrAWMvuv/ZXx/bCn/ZVxn8VakAErOVlsLivv/93Z03mRnX2QlWB2Zu+BrL4mBUsnT57sgVoFY5XdrGxRBU+VnRtdP1jBUwVWb7zxRg/KKqs2qEGrbOu9LVnSoUOHSGa4SoMo21q00FV0prAeV5BY5UC0X7Qol77WAmXZldXrWJB9f8kll3gpAd1wUUBbZUty6r+uT5mVWwjjfAMAAPFBaw4AQJKIrjUbTFXfXf3Z6KxHZYRlnJKsLNzorD5laAUBIWXQRQc3NHU+I02lD6hOpbLAgg8FdDS1V1/vaQpwZqKn/geBxYCCnAoqqQZq9OvL+HpEU+MDVatWtdygY6BAaEDTs4NsyWD/KBCmLDnRwlLK+FQg7L/KAOzt4liaHq7Xqn113XXXeakLTb1XrVRRNqFKFiTC/sroqaee8uC1ymJEL4YUvU+DzFbtt+j3mD72lD2b1ff/7kS/zzO+HzM7LzITLMIlyq6OpveygoOqC5sxGJ3ZeyArr0nHXhnbykI+4YQTfME8lR5RyY/gGCvoqhspeu/q9ehvqIyDpv0Hi90F5SuUIRvIeCz0EVyLlI0d7DcFXIMM0YxlRlQeRP9bWecKjqrEhjJzo7Nosyqr1zHVsQ7qyKo8g2ofK3t7dxnV0QHgPQVY/+t8Uy3toOzFnt5/AAAgeVDiAACAJKEpzZqurqBCYE8BWtVZ1ZRdZaddddVVdvPNN3sAQwHUYCq0aiMGwRQFyrSQkKZ167kKVKgmaDA1OmNNUgV5NI1XmZraLtWh1f9TIFWBlxYtWkQW9NpbCu4oeKnMW9VmVMBWU8kVQNR2KygSBGBUz1KL/yjTVsFP/U8FO1ROIPi/qhN5xhlnWG5Rtp1qS2qbFRRV7UzRa5fge9EUatXP1fFTfcmAtju7FEDTAktBAFE1PVVSQlPHM2Zdqsar6vJqmx5//HEv4aAMbB1D1eoU1SHNOA09K6JrxSo4v6csQtVHVV1UUVkD7Utld6p+rug4Z6zNmRVZff9nRnVCtVCdAn36rG1S+QiVlNib8gai96TexwreK2CvLGf9X+33Z555xgOzOiba97F8TSqloWxWvb8UJNbiZHpcwcEgIK7MTAUdtS1BTWKVAtDfVWBWzw1KBuxN1rzo7ykYq+MYLBSm2ssZz8Pg3Fi1apXX+tW2KVCrGrjZncqv15OV61j0+amAtALoOtbBOZVxO6LLtSj4rSzhoP52Rgryqh60bpgoe16Z7ippod9R5nIQkO/UqVOWXycAAMh7CNACAJBEFFALArQKaERPB89IdSNnzJjhNSCVTZaxhqsy1xQ0CChApkCosjJVF1If0QsvRWfsKQijwKSm1Ssol3FRKdUSveaaa7L8+hQ0VLBVATsFT4JamNF1X4P/pQw11c1UyQAF9vQ70RRMU6Blb8sFZGdbFVzKuF8VvFZWZBAs06ryCnIFNWIzysmiP1oZXqvMKziroKE+oikwpueIgsgKMvbs2dOzFDMGrJSxqQCuFqTLruhasZpar4Xtdkc1ZFWqQxmeCmAFC7UF7y9Ny8+4OFVWZPX9nxmdYwqEPvbYYx5Y074LHHPMMf539yZoeP/99/t7QsFr/c/o/6v3kabZx/o1ad8rq1o3A7RgVWYLZGmhLm2f6ssqqKpsUgVVg2Bt9PHQc/eWApE694IyILqZknHavm5iKCCrfaLFyDLLUFdwdG8Dw9m5jinYruvIzz//7B8KgGf0+++/Z5pdrv+jkijBTYbM6HxSAFb/U1nJ+oim4xcsbggAAJIbJQ4AAEgi0Rmze6o/GwRVlMWmqcTKTFXQVEE4ZXYp6KTgiDJMA8qY03R4ZS0WL17cA0cKoihoc/DBB+/y9/X/9Xxlxunv6G8ry1fBGT2e2cr0e0OZnpp63axZM99mZa0pUNaxY0f/u9ELc+kxbZ9qrSp4q23Q61CgRVl00QsbxZq27aWXXvJ6ncp+VABIQS5l/qp+pyhz8umnn/ZMOu1P/Y62SdP7g6nvCrBml4LPCvooOK1MTQVktQ8UZFUAVBm20dO1tU9V+1NZstqPeq62W8dQ74fczDbOSNm1w4YN84xrbbv2md53jRo18un0qk+aE1l9/+/Otdde6yUIFMwLfl8B1azcgNDxV/kJvU+Dc0X7v23btr4dyqzOjdekkiAqM6AF43ReKNip94iuI/obusESUF1k/W3VSdbf0HOV5ayyA8r0zUogUe8plUoIZCxvILrBo6Cx3qs6f3SOd+7c2TN9RcHdL774wrIqK9cxvUadi7rmaJv1HtR1S4ubKRguyoDdsGFDJNDcpk0b/zsKzuo9EWQYZ0YzC9555x0/Nlr0TUFqbY/2v4L++j8AACA15Ev7rwJJAAAA2GsKcqqEgAJsOQmuAgAAAEgNZNACAAAAAAAAQEgI0AIAAAAAAABASAjQAgAAAAAAAEBIqEELAAAAAAAAACEhgxYAAAAAAAAAQkKAFgAAAAAAAABCQoAWAAAAAAAAAEJCgBYAAAAAAAAAQkKAFgAAAAAAAABCQoAWAAAAAAAAAEJCgBYAAAAAAAAAQkKAFgAAAAAAAABCQoAWAAAAAAAAAEJCgBYAAAAAAAAAQkKAFgAAAAAAAABCQoAWAAAAAAAAAEJCgBYAAAAAAAAAQkKAFgAAAAAAAABCQoAWAAAAAAAAAFI9QPvkk09a586d9/ictWvX2g033GB16tSxunXr2r333mubN2+O2zYCAAAAmaEvCwAAgOzaxxLAiy++aIMHD7batWvv8Xk9evTwTuyzzz5rGzZssDvuuMM2bdpkDz74YNy2FQAAAIhGXxYAAAB5NkD766+/2j333GPTp0+3ChUq7PG533zzjc2YMcMmTpxolSpV8sf69Olj3bt3t+uvv95KlSoVp60GAAAA6MsCAAAgCUoc/Pjjj1awYEEbP368HX/88Xt87qxZs+zQQw+NdGhFU8Py5ctnX331VRy2FgAAAPgXfVkAAADk+QzaZs2a+cfeZiiUKVMm3WOFChWyEiVK2KpVq3JpCwEAAIDM0ZcFAABA0tSg3Ruq16VObEaFCxe2rVu3ZutvaqpZWlqaZz4AAAAgsWzfvt0zTGvVqmV5HX1ZAACA1LI9C33ZPBOgLVKkiG3btm2Xx9WhLVasWLb+pjq0+ti5c6elOu2HHTt2WIECBfzNg/jjGISPYxA+jkH4OAbh4xik3xfJgr5s7uK8CR/HIHwcg/BxDMLHMQgfxyB7fdk8E6AtXbq0ffjhh+keUyd33bp1VrJkyWz9zSDboHr16pbqtILwggULvC5adgcJyBmOQfg4BuHjGISPYxA+jsG/5syZY8mCvmzu4rwJH8cgfByD8HEMwscxCB/HIHt92TwToK1Tp44NHDjQli5dakcccYQ/ppVw5cQTT8zR31ZUP9UF+0Cf2R/h4BiEj2MQPo5B+DgG4eMYJCf6srmL8yZ8HIPwcQzCxzEIH8cgfByD7MlvCUrp0GvWrLEtW7b491oZ94QTTrBevXrZd999Z9OmTbO7777b2rVrZ6VKlQp7cwEAAIAI+rIAAADI8wFarWbbqFEjmzhxon+vuhWPPfaYlS1b1rp06WI9e/a0xo0bW+/evcPeVAAAACAd+rIAAADIcyUO+vfvn+57dV7nz5+f7rGDDz7Yhg4dGuctAwAAAPaMviwAAACSLoMWAAAAAAAAAJId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HaJDR79mxr166d1axZ0y644AJbtmzZLs/Zvn273XXXXXbSSSdZ/fr1beDAgbZz507/2Y4dO+yhhx7yn9WrV8/uu+++yM8WLFhg1apVs1q1akU+Jk2aFPfXCAAAAAAAACQDArRJZuvWrXb11Vdb9+7dbcaMGdagQQPr2bPnLs8bM2aMrVy50j766CObMGGCffnll/b555/7z0aNGmUzZ860iRMn2rvvvmvTpk2zN9980382b948a9q0qX3zzTeRj9NPPz3urxMAAAAAAABIBgRok4yCqSVKlLDWrVtboUKF7Morr7Tly5fbwoUL0z1v6dKlnikbZMbmz5/fChYs6F+/9tprdvPNN9tBBx3kH08++aQ1bNgwEqCtWrVqCK8MAAAAAAAASD4EaJPM4sWL7cgjj4x8X6BAAStXrpwtWrQo3fPOO+88mz9/vtWpU8dLHFSsWNE/b9q0yYO3S5Ys8czYxo0b29ixY61kyZL+e/qdWbNm2SmnnGLNmjXz4C0AAAAAAACA7CFAm2QUYC1SpEi6x4oWLWqbN29O99i2bdusTZs2nnE7efJkD+C+//77tnHjRv/5Bx98YK+88oqXQlAJhDfeeMMfV3augrN6bMSIEfbqq6/a66+/HsdXmBp1gPem1u+WLVs8iM7+BwAAAAAAyLsI0CYZBWMVuIum4Oy+++6b7rHbbrvNyyAccMABVrZsWbvkkktsypQpkTIHl112mQdj9bMOHTrYxx9/7I8PGjTIunXrZsWKFbOjjjrKLrzwQq9ji9jWAd6bWr86FpkFfgEAAAAAAJB3EKBNMipvoPIEAdWZVRBPJQyirV692jM4A/vss4+XQzjwwANt//33j2TSBn8jLS3NA78PPvhgup8pE7dw4cK5/rpSrQ7wf9X6VeBXWbrKrAUAAAAAAEDeRYA2ydSrV8/++OMPe/PNNz14Onz4cCtfvrxVqlQp3fNOPvlkGzJkiAdb16xZY88++6zVrVvX8uXLZ23btrVRo0bZ+vXrbcWKFfbyyy9bixYtvHSCMjwff/xxD+5qGv6LL77oz0fs6gD/V63fv//+23r37m3333+//20AAAAAAADkXQRok4yCqArmvfDCCx6snTp1qg0ePNh/1qpVKxs/frx/fe+99/rCX6eddpq1b9/en3vmmWf6z2655RarUqWKP/+cc86xs846KxKEffTRRz14qOdfeumldsUVV1iTJk1CfMXJVwf4v2r9PvTQQ17fViUmAAAAAAAAkLftE/YGIPZq1Khh48aN2+VxBfsCCgBqUarooOLcuXP9a03Lv/POO/0jowoVKtgzzzyTa9ueanWA+/fv73WA9aE6wArGXnfddV5fNhBd67dUqVI2Z84cu/vuu+P2evIqlYC45557vORH9erVfV8rmzyaMsH79Onji+Ipe/yMM87wj6AMiBZxU/1fHVMdA92QEJWm0DFS0FzlP3QDQ8dTZSoAAAAAAACygmgCkGB1gPdU6/e9997zWrbKYK5du7Z99dVXng2tkgeI7UJtt956qx199NGe4fzaa695OQ/9XFQCZObMmTZx4kR79913/TkqKwIAAAAAAJBVZNDCKXtQWYL6jNjVAVbZCGXF7qkOsGr6Kigb1AEOav0qM/OGG27wmrYKDvbr18/LSfTt2zfyNzp37uwlKs4+++wQXmneWKhNtFDbc88958Ht6NIQe1qoTcdN3ytwvm7dOn/Ofvvt5z9TwPa+++6zgw46yL9XWRHqAQMAAAAAgOwggzbOdqT9XyAo0Sg4q2ng+pyIEnW/5VYdYGr9hr9Qm0p9KDh77rnneh1m7f9jjz3WF2lTYFdZ0qeffro1btzYxo4d68cSAAAAAAAgq8igjbMC+fLbbYtH26LNv4a9KXnGkUVL2QMVO1kq1QHe21q/CgIj5wu1qRyCSkpcdtllvlBbtWrVIs9R9vKqVau8RvDLL79sTZs29cdVt/aVV16xv/76y39WtmxZMpkBAAAAAECWEaANgYKz8zavCHszgKQVi4XaAqr9q4C5FgmbMmWKZzyLgrkKsuujQ4cO9vHHHxOgBQAAAAAAWUaJAyBBUAc4cRZqU/1flTWYN29eumzb4sWLe93Z/fffP90ibvr7+h0AAAAAAICsIkCLlLNjZ2IG0hK+DnCC7rf/WqhNgdXhw4fvcaE2BVvXrFkTWahNQfIqVarYY4895pm4WlxszJgx1rZtW/+ZPo8aNcrWr19vK1as8NIHLVq0CO31AgAAAACAvIsSB0g5BfLns7smr7bF6/7NnMSeVSxR0Po2L215baG2e+65xxdjU03Z6IXaLr/8cg+y6mf9+vXzsgXKnm3durU1a9bMn3fnnXf6z7U4mDJmVfZAAV255ZZb7KGHHvK/9c8//3j5A/09pDd79mw/Bspm1s0HlZNQoDyaMpj79OnjNX0V/D7jjDP8I9ry5ct9Ib1Zs2bt8j8UQFe2s44pJSbiewy0wJ7OEWWaq9THlVde6QvvAQAAAACyhgAtUpKCs/N/3xr2ZiCBF2pTUHbQoEGZ/u1ChQp5AFcfyNzWrVt98bVbb73Vs4tV27dnz572+uuvp3ueMpNXrlxpH330kQdbFexWKYljjjnGf/7tt99ar1690pWUiKZjpPIViO8xUEmPa6+91jp37uwL6SnLXMHZOnXqeM1mAAAAAMDeo8QBACDmpk2b5gFwZSUroK3sSmVhKpAXbenSpV7Dd+fOnf59/vz5rWDBgv71559/btdff71179490/8xY8YMzxCtVatWHF5R3pObx0CZtioh0qlTJ/9+3bp1noWeqCVaAAAAACCREaAFgP+PhdpiZ/Hixb5YW0CLr5UrV84WLVqU7nnKutRUeWVe1q9f3xdy02dRBud7773nZSYy+vvvv6137952//33+99G/I9BsWLF/Fxp0KCBB2q7du1qpUqVisMrAwAAAIDkQoAWQNwl6oJjLNQWOyoXoVrA0bRfN2/enO4xLeLWpk0bz/acPHmyBw/ff/99/9mBBx7omZ+ZUQ3gdu3a2VFHHZWLryJvy+1jEJgyZYqNHTvWnn/+efvss89y4ZUAAAAAQHKjBi2AuGOhtuRfqE2BQNUzjabA4L777pvusdtuu80XrjrggAP845JLLvFaqVqUbXe++OILmzNnjt199925tv3JIDePQbTChQvbscce60FeBWuDxfQAAAAAAHuHAC2AULBQW3LT1Po33ngj8r1qnGoxL02fj7Z69Wrbvv3fQL3qmP5XyQJNuVcd1Xr16kUyRb/77jv/UNkD5P4x0IJhymDWQnyqcxtk4h588MExfx0AAAAAkOwocQAAiDkFT//44w9fSEqBu+HDh1v58uWtUqVK6Z6nbMshQ4Z4wG/NmjX27LPPWt26dff4t/v27WvffPONzZo1yz9OPPFEu+eeewjOxvEYFC9e3EqXLm2PPvqoB3e/+uormzRpkp155pm5/KoAAAAAIPkQoAUAxJxqnz755JP2wgsveKBw6tSpNnjwYP9Zq1atbPz48f71vffeayVLlrTTTjvN2rdv788lyJc3jsGgQYNs+fLlvqCYAuSqC1y5cuVcf10AAAAAkGwocQAAyBU1atTwKfAZTZgwIfK1pscPHDgw8r3KFcydOzfd88uWLWvz58/f7f9RABLxPwbKoFWtWgAAAABAzpBBCwAAAAAAAACpGKDduXOnDR061Ovf1axZ0y699FKfLrk7qqV3ww032EknneRTMHv16mW//vprXLcZAJB78uXLZ0WLFvXPCAfHANh79GUBAACQ5wO0w4YNszFjxviCLy+//LJ3crt37+6LmWSmZ8+etnLlSnvmmWf8Q19fffXVcd9uAMjrdqTttESkwGD16tX9c7Lvtx070ywRJfwxSND9htREXxYAAAB5ugatOq6jRo2yG2+80Zo2beqPPfLII56B8P7771vr1q3TPX/Dhg02Y8YMX4W6WrVq/thll11mV111la1bt85r6AEA9k6BfPnttsWjbdFmMrf21pFFS9kDFTvF7O8VyJ/P7pq82hav2x6zv5nsKpYoaH2blw57MwBHXxYAAAB5PkA7b948+/vvv33158D+++/vWTszZ87cpVOr1aj33Xdfe/PNN61u3br+2FtvvWUVK1b03wMAZI2Cs/M2rwh7M1KagrPzf98a9mYAyAb6sgAAAMjzAdrVq1f75zJlyqR7vGTJkpGfRStUqJD179/f7r77bqtdu7bXxtNzR48ebfnzs9YZAAAA4oe+LAAAAPJ8gHbz5s2Rzmq0woUL2/r163d5flpams2dO9dq1arltb127Njh08g0Leyll16y/fbbL9vbor8VLwUKFIjb/0o2sTpOHIPs4xiEj2MQPo5B+OLZbof5+vQ52V9rXpaqfdlExXkTPo5B+DgG4eMYhI9jED6OQR4L0GqaV1C/K/hatm7dmunCJO+++65nGHz88ceRDuwTTzxhp5xyio0dO9a6du2are3QYg4bN260eNBgvHjx4nH5X8lo06ZNOT65OQY5wzEIH8cgfByD5DgGiUx9oVR4nXvbT0vU7NJU7MsmMs6b8HEMwscxCB/HIHwcg/BxDLLXlw0tQBtMB/vtt9+sfPnykcf1fZUqVXZ5/qxZs7xGV3R2wQEHHOCPLV26NNvboR3FIDlvKFasWNibkPI4BuHjGISPYxC+vHQMZs+ebffee6/3VbQw1P3335+u3yNt2rSxlStXRr7fvn27HXLIIfbOO+/4a9VCVM8995x3drUAVd++fdMFBLXA1HnnnWfPPvusHX744ZZMEjU4K/RlE0swK0HnTF66RiQTjkH4OAbh4xiEj2MQPo5B9vqyoQVoq1at6h3U6dOnRzq1Wt12zpw51qnTrqtkly5d2iZMmOCDE00dC6Lxv/zyi7Vt2zZH28I007yB4xQ+jkH4OAbh4xiEL68cA/VZevToYbfeequ1aNHCRowYYTfccIO9/vrr6Z43ceLEyNfKhGzXrp116NDBX+ekSZPslVde8SnwBx10kF177bUesNVn+fnnn61Xr162YsUK7wDmlX2TDOjLJpZgH+gz+yMcHIPwcQzCxzEIH8cgfByD7AktLUH1utR5HThwoE2ePNlXwtUAQ51XDWKUBr1mzRrbsmWLP1+DFenZs6c/Vx/XX3+9d3DPPvvssF4GAABApqZNm2YlSpSw1q1be7/nyiuvtOXLl9vChQt3+zsDBgywOnXq2AknnODfv/baa3bNNddYuXLlbN9997WHHnrI2rdvHwnOdunSxS6++OK4vSb8i74sAAAAYiXUeWPKKjn33HPtzjvvtI4dO3pkfeTIkVawYEFbtWqVNWrUKJJVolVux4wZ4wssBIMRPU+PMa0LAAAkmsWLF9uRRx4Z+V79HAVaFy1alOnzFXBVhmWQHStaVEpZtSqD0LBhQxs2bJj3iaRUqVKeYRsEbBF/9GUBAAAQC6GVOBB1Ym+66Sb/yKhs2bI2f/78dI9VqlTJF1MAAABIdJq+Hl0rVrR41ObNmzN9vmrIKth34IEH2urVqyNT5t9880176qmnPGPzqquusieffNKDuNG1TBEO+rIAAACIhcRdeQEAACAPUzA2mN4eUHBWpQoy2rZtm2daKkAbTRmWnTt39mnzqkHbrVs3+/jjj3N92wEAAADEDwFaAACAXKDyBkuWLIl8r5qky5Yts4oVK+7y3K+//toOOeQQO/roo9M9XqFCBfvrr7/S/Q1NkQcAAACQPAjQAgAA5IJ69erZH3/84SUKlCE7fPhwK1++vE9zz+i7776zmjVr7vL4WWed5TVKf/31V/vzzz9t1KhRvgAVAAAAgORBgBYAACAXqP6s6sW+8MILHqydOnWqDR482H/WqlUrGz9+fOS5K1eutEMPPXSXv9G1a1dr3bq1dejQwU4//XSrUaOGXXLJJXF9HQAAAACSeJEwAACAZKaA6rhx43Z5fMKECem+7927d6a/nz9/fl8YTB97knExKgAAAAB5Bxm0AAAAAAAAABASArQAAAAJJF++fFa0aFH/DAAAACD5UeIAAACkpB0706xA/sQLgio4W716dUtUibrfAAAAgLyKAC0AAEhJCjLeNXm1LV63PexNyTMqlihofZuXDnszAAAAgKRCgBYAAKQsBWfn/7417M0AAAAAkMKoQQsAAAAAAAAAISFACwAAAAAAAAAhIUALAAAAAAAAACEhQAsAAAAAAAAAISFACwAAAAAAAAAhIUALAAAAAAAAACEhQAsAAAAAAAAAISFACwAAAAAAAAAhIUALAAAAAAAAACEhQAsAAAAAAAAAISFACwAAACBhzJ4929q1a2c1a9a0Cy64wJYtW5bp80aOHGmNGjWyOnXq2O23327btm3zx7dv32533XWXnXTSSVa/fn174IEHbOfOnf6zBQsWWLVq1axWrVqRj0mTJsX19QEAAGREgBYAAABAQti6datdffXV1r17d5sxY4Y1aNDAevbsucvzJk6caC+99JJ/TJkyxdauXWvjx4/3n40ZM8ZWrlxpH330kU2YMME+//xze+utt/xn8+bNs6ZNm9o333wT+Tj99NPj/jpTOUi+evVqu+KKK6xu3brWuHFje/zxx+P62gAASEQEaAEAAAAkhGnTplmJEiWsdevWVqhQIbvyyitt+fLltnDhwnTPe+211+yaa66xcuXK2b777mv9+vWzJk2a+M+WLl1qO3bsiAQE8+fPb4ULF44EaKtWrRrCK8s7cjtIrkBu2bJl/TE9780337S333477q8TAIBEQoAWAAAAQEJYvHixHXnkkZHvCxQo4EHYRYsWpXve3LlzbePGjdamTRtr2LChPfXUUx7YlfPOO8/mz5/vWZ3K3tTfO/PMM/1nenzWrFl2yimnWLNmzezJJ5+M8ytM7SC5vtffVAatPitQ27x5c/v2229Dea0AACQKArQAAAAAEsKmTZusSJEi6R4rWrSobd68Od1jGzZs8MxLBWaVfanM2CBDU9PsFbhVoHHy5Mn2888/24svvug/U+BRwVlldY4YMcJeffVVe/311+P4ClM7SK5A7RNPPGGHHHJIpBTCF198YZUrV47zqwQAILEQoAUAAACQEBSM3bJlS7rHFJxVhma0ggULWufOna106dJ20EEH+ddff/21/+y2227z7M8DDjjAMzSVrTl27Fj/2aBBg6xbt25WrFgxO+qoo+zCCy/0afiIX5A8oAzbW2+91Y9l+/bt4/DKAABIXARoAQAAACQEZVouWbIkXRBPC1RVrFgx3fMqVKhgf/31V+T7YCp9sAiVMjMD++yzj38o8Pvggw961mdAgcSgPi3iEyQPgsAqnaBs3aefftrLHQAAkMoI0AIAAABICPXq1bM//vjDMzMVPB0+fLiVL1/eKlWqlO55Z511li8w9euvv9qff/5pzz//vNWtW9d/dvLJJ9uQIUM8ELtmzRrP8Dz99NM9K1QLUz3++OMewF2wYIFndbZt2zakV5t6QXJZv369derUycsdjB492oO72NXs2bOtXbt2VrNmTbvgggv8GGRm5MiR1qhRIy8noQXYdN5k9rMbbrghEnjXcatWrZrVqlUr8vHMM8/E7bUBAHZFgBYAAABAQlAQVQt3vfDCCx6snTp1qg0ePNh/1qpVKxs/frx/3bVrV8/Q7NChgwdfq1ev7t/LvffeayVLlrTTTjvNp843aNDAny+PPvqo10bV37700ks9szNY2Aq5HySXXr162WGHHeaBcpWawK62bt1qV199tXXv3t1mzJjh7+GePXvu8ryJEyfaSy+95B9TpkyxtWvXRs6RzH6m4yA6B44++mj75ptvIh8XX3xx3F8nAOBf/3cbEwAAAAASQI0aNWzcuHG7PK6FvQLKvrzqqqv8I5gyr0WrRAtVDRw4MNO/raxPMgX3Lkh+zz33eLBbmZbRQfLLL7/cs44V9FZGpoLkyshs2bJluiB5v379PEiuzFkFyvV8ZS1rUTCVlahdu3bkf6pebZ8+fUJ7zYlGtXv1Pg72p8pBPPfcc7Zw4UKvnRx47bXX7JprrvFF3ET7/Mcff8z0Zw899FAkg1b1gqtWrRrCKwMA7A4BWgAAAABArgfJK1eu7Nmb2DPV5lWpiUCBAgU80Lpo0aJ0AVrt72bNmnmAW1nMzZs3tzPPPDPTnymDWYuyiY6ByljoMR03Bd6vv/56agEDQIgocQAAAAAgT8uXL58vbqXPQF6noKkymaPp/a3F2qJt2LDBS1GodMHbb7/tmbFvvfVWpj+bM2eOZ0aLSkuoHIUWbnvllVds5syZkZ8BAMJBgBYAAADAXtmR9u9CUIlEwSvVodXnRJSo+y2WCJLHjvZjUI4goODsvvvum+6xggULWufOna106dK+2Jq+/vrrrzP9Wbdu3ezjjz/2nymT9sYbb7TixYt7PeDLLrvMPvroozi+QgBARpQ4AAAAALBXCuTLb7ctHm2LNv8a9qbkGUcWLWUPVOwU02CvjkOiBskTVaLut8yovMEbb7wR+X7Hjh22bNkyq1ix4i41lVX/N7Bz587d/kx/Iy0tzb8eOnSo1wUO6tNqMTjVBUZ6s2fP9lrMKgeh93b//v19wbyMRo4c6bWttbhbw4YN7fzzz9/lOTfddJOXqtDfEB2bOnXqpMuU7tGjB4u1ASmMAC0AAACAvabg7LzNK8LejJRFkDz8IHluq1evnv3xxx9eokA1ZUeMGOGBwUqVKqV73llnnWVjxozxxdiUMfv888976YLMfjZq1Chr0aKF/0zlDlTn9v777/f6tPr7HTt2DOW1JioFW6+++mrPNtZ+0z7q2bOnvf766+meN3HiRHvppZf8Q5nKqsk8fvx4O/744yPP+fDDD+2dd97xYxJQHeCjjz7anwsAQoAWAAAAAPIQguTJTVmVqgmr7M17773XqlWrZoMHD/afaUGvyy+/3Nq2bWtdu3b1UggdOnTwjMyWLVta69at/XkZf6bHL7nkEv9Zv379/O82adLEszr1HAK06U2bNs0Xuwv255VXXmnPPfecLVy4MN1Cba+99ppdc801kWxk7dsff/wx8nMFwAcMGGBnn322ZzEHVC+4atWqcX1NABIbAVoAAAAAABJIjRo1bNy4cbs8PmHChMjX+fPn94xNfQSLi82dOzfTn0U75JBD7NFHH83V7c/rlGGsUhMBBbIVhF20aFG6AK32d7NmzaxNmzYejG3evLlnPQcUCO/evbutXr3aVqxYkS6DVqUTTj/9dD9uCrxff/31VqhQoTi+SgCJJG8U4QEAAAAAAIgDBU2j68MGdZa1WFu0DRs2eCmKp556yt5++23PjH3rrbci5Q/+/vtvO++883b5+8WKFfNyFGPHjrVXXnnFZs6c6VnTAFIXAVoAAAAAAPK4fPnyeRBRn5Ez2o8qERFNwdl999033WOq79u5c2crXbq016DV119//bXXEH744Yetb9++mf591ba98cYbrXjx4nbYYYfZZZddZh999FGuviYAiY0SBwAAAAAA7KUdO9OsQP58CRlUrF69uiWqRN1vmVF5gzfeeCPyverHLlu2zCpWrJjueRUqVPAav4GdO3dGatj+/vvvXvogWHQsLS3N69Mq03bo0KHWvn37SO3abdu2WeHCheP06gAkIgK0AAAAAADsJQUZ75q82hav2x72puQZFUsUtL7NS1teUa9ePc+CVfkC1ZQdMWKElS9f3ipVqpTueWeddZaNGTPGTjvtNM+mff755710gWrKRpc2UM1f1aDt37+/fz9nzhyvc3v//fd77Vr9fRZqA1IbAVoAAAAAALJAwdn5v28NezOQS1R/VjVh77nnHl/oq1q1ajZ48GD/mYKvl19+ubVt29a6du3qpRA6dOjgmbQtW7a01q1b/+ff79evn//dJk2a+AJk+n0CtEBqI0ALAAAAAAAQpUaNGjZu3LhdHp8wYULk6/z589tVV13lH8HiYnPnzt3ld6699tp03x9yyCGeVQsAARYJAwAAAAAAAICQEKAFAAAAAADIoXz58vlibfqMnJs9e7a1a9fOatasaRdccIEv1JaZkSNHWqNGjaxOnTp2++23+6Jr0datW2fNmjWzX375JfLY6tWr7YorrvCawY0bN7bHH388118PsCcEaAEAAAAAQJ6xY2eaJSIFZ6tXr+6fE1Gi7rfMbN261a6++mrr3r27zZgxwxo0aGA9e/bc5XkTJ060l156yT+mTJlia9eutfHjx0d+/vPPP9tFF13ki7RFUyC3bNmy9vnnn/tCb1oQ7u23347LawMyQw1aAAAAAACQZxTIn8/umrzaF2vD3qlYoqD1bV7a8opp06ZZiRIlIouuXXnllfbcc8/ZwoUL7aijjoo877XXXrNrrrnGypUrF1mA7ccff4wEZ7t06WI33HCD3XrrrZHf2blzpxUqVMgzaPVZgdrmzZvbt99+a23atIn7awWEAC0AAAAAAMhTFJyd//vWsDcDuWTx4sV25JFHRr4vUKCAB2EXLVqULkCrRdlUvkCB1T///NMDrWeeeab/rFSpUjZp0iTbd9990wVotbjbE088Efl++/bt9sUXX1inTp3i9vqAjAjQAgAAAAAAIGFs2rTJihQpku4xlY7YvHlzusc2bNjg5QmeeuqpSFasAq7HHXec7bfffv/5f3bs2OHB24IFC1r79u1j/jqAvUUNWgAAAAAAACQMBWO3bNmS7jEFZ5UNG02B1c6dO1vp0qXtoIMO8q+//vrrvQ4Cq3SCsnWffvppD/ACYSFACwAAAAAAgISh8gZLlixJl+m6bNkyq1ixYrrnVahQwf7666909WX3xvr1672kgcodjB492oO7QJgI0AIAAAAAACBh1KtXz/744w8vX7Bt2zYbPny4lS9f3ipVqpTueWeddZaNGTPGfv31V69B+/zzz1vdunX/8+/36tXLDjvsMHv88cetWLFiufhKgL1DgBYAAAAAAAAJQ/Vnn3zySXvhhRc8WDt16lQbPHiw/6xVq1Y2fvx4/7pr167WunVr69Chg51++ulWvXp1/35PFixY4IuCffrpp1a7dm2rVauWf9x9991xeW1AZlgkDAAAAAAAAAmlRo0aNm7cuF0enzBhQuRrlSi46qqr/COoKzt37txdfmf+/PmRrytXrpzueyARkEELAAAAAAAAAKkYoFXx5qFDh9rJJ59sNWvWtEsvvdSWL1++2+dv377dBg0aFHm+CjpndmcEAAAAyG30ZQEASCz58uWzokWL+mcgLwk1QDts2DAv5ty3b197+eWXvZPbvXt3LwCdmd69e9vrr79u999/v6e5a5U9dYQ3btwY920HAABAaqMvCwBIVTt2plkiUnBWdWj1OREl6n5DCtegVcd11KhRduONN1rTpk39sUceecQzCt5///1dijorG0Ed2SeeeMKfI/369bN27drZDz/8YPXr1w/ldQAAACD10JcFAKSyAvnz2V2TV9viddvD3pQ8o2KJgta3eemwNwMJKrQA7bx58+zvv/9O1xndf//9/U7HzJkzd+nUaoW94sWLW+PGjdM9/6OPPorrdgMAAAD0ZQEAqU7B2fm/bw17M4CkEFqJg9WrV/vnMmXKpHu8ZMmSkZ9FW7x4sZUrV84zEs4++2xr2LChTwn7+eef47bNAAAAgNCXBQAAQGgZtJ988olPy8qfP2ex3c2bN/vnQoUKpXu8cOHCtn79+l2e/9dff9nSpUu91tfNN9/sGQfDhw+3Cy64wCZOnGgHH3xwtrdlx44dFi8FChSI2/9KNrE6ThyD7OMYhI9jED6OQfg4BuGLZ98pUdGXRVZx7QofxyB8HIPwcQzCl+z9qOD16XOyv9ZQA7SXX365HXroodamTRuvmVW5cuVs/eMiRYpE6ncFX8vWrVszLea8zz77eMdWtb0qVarkj+nrJk2a2BtvvOELMmSHFnOI18IMuoBpahuyZ9OmTTk+uTkGOcMxCB/HIHwcg/BxDJLjGOxtPy2nSQG5hb4ssoprV/g4BuHjGISPY5A6/aiwqC+UCq8z1n3ZLAdojzjiCL/7r0URnnnmGatWrZq1b9/eWrVq5SvR7q1gOthvv/1m5cuXjzyu76tUqbLL80uXLu0d26BDK+oMa6rYL7/8YtmlHcWFJW8oVqxY2JuQ8jgG4eMYhI9jED6OQeocg0QNzgp9WWQV167wcQzCxzEIH8cgfMl+DILsar3OZH+tsezLZjlAO2nSJF8U4d1337X33nvP5syZY3PnzrUHH3zQFz1o27atnXrqqd4B3ZOqVavafvvtZ9OnT490ajds2OB/r1OnTrs8v06dOvbPP//Y999/b8cee6w/tmXLFl8RV8HhnCA1P2/gOIWPYxA+jkH4OAbh4xiEj2NAXxZZx3EKH8cgfByD8HEMwpfsxyB4ffqc7K81lvJnt0Paq1cvD9Y++eSTXvJAHc6PP/7YH2/RooUHcfdE9brUeR04cKBNnjzZn6/fVXaBfl9p0GvWrPGOq9SuXdsaNGhgt9xyi82aNcsWLlzo9bt0sM8666zsvXoAAAAgG+jLAgAAINQA7e+//24vvviiXXjhhXbllVf6VC5RNsCBBx5oK1eutD59+vzn3+nRo4ede+65duedd1rHjh29gzpy5EgrWLCgrVq1yho1auSLJgQeffRRq1u3rl1zzTX+e6rj9fzzz2eptAIAAAAQC/RlAQAAEAtZLnHQpUsXv+uvQrdpaWl2yCGHeFmDc845x2tqqQiwvlbZg/+iTuxNN93kHxmVLVvW5s+fn+4xTSPr3bu3fwAAAABhoi8LAACAUAK0qrOl+rLNmjXzQKxWno2uKaECwEcffbStX78+JhsIAAAAAAAAAMkqywFa1c1SxuzBBx+82+f07duX1WQBAAAAAAAAINY1aC+++GJbtGiRvfvuu+kCsl9++WXk+wMOOMDy589WeVsAAAAAAAAASBlZjqJqldquXbvaW2+95d9rhdpXX33Vunfvbh999FFubCMAAAAAAAAAJKUsB2iHDRvmnxs2bOiftVDYdddd518/8cQTsd4+AAAAAAAAAEhaWQ7QqrxBnTp1rHPnzv69FgxT9qweW7hwYW5sIwAAAAAAAAAkpSwHaAsVKmQrVqzw0gaB7du327JlyzxYCwAAAAAAAADYO1mOqKq0gRYIa9++vTVo0MD++ecfXyBs1apV1rJly6z+OQAAAAAAAABIWVkO0N5yyy323Xff2YIFC+ynn37yGrRy+OGH+88AAAAAAAAAALkUoC1VqpSNHz/e3n77bZs3b54/VrVqVWvdurXtu+++Wf1zAAAAAAAAAJCyslU0tlixYnb++efv8vhff/1l++23Xyy2CwAAAAAAAACSXpYDtBs3brTHH3/cFi1aZFu3bo2UONi0aZMtXLjQvv3229zYTgAAAAAAAABIOlkO0Pbr189LHCgwmy9fvkiAVsieBQAAAAAAAIC9l9+y6LPPPrMDDzzQhgwZYgUKFLD777/fbrrpJg/WXn311Vn9cwAAAAAAAACQsrIcoN2wYYMde+yxdvrpp9sxxxxj++yzj11yySVWq1Yte+WVV3JnKwEAAAAAAAAgCWU5QHvwwQfbTz/9ZH/++acdd9xxNnHiRPv999/tt99+s9WrV+fOVgIAAAAAAABAEspygPa0006zlStX2vPPP28NGjSwKVOm2Mknn2wrVqywI444Ine2EgAAAAAAAACSUJYXCbv55pstf/78VrNmTWvSpImXOpg0aZIdcMABdvvtt+fOVgIAAAAAAABAEspygHby5Ml26aWX2qGHHurfa7GwtWvXeoBWgVsAAAAAAAAAwN7JckT17rvvtm7duqV77MADDyQ4CwAAAAAAAAC5nUFbpkwZ22efLP8aAAAAAAAAACCDLEdaGzdubKNGjbK2bdta7dq1rXjx4umyZ6+77rqs/kkAAAAAAAAASElZDtA+/fTT/nnBggX2008/RR5PS0uzfPnyEaAFAAAAAAAAgNwK0LZr184DsQAAAEBeMXbs2L1+7rnnnpur2wIAAADkKEDbv3//rP4KAAAAEKo777xzr5MMCNACAAAgoQO0M2fO3OPP69Spk5PtAQAAAGKuffv29sYbb3iQtnr16lasWLGwNwkAAADIXoC2c+fOe8w+mDt3blb/JAAAAJCrHnjgAatSpYrPBqtQoYINGjQo7E0CAAAAXH7LopIlS0Y+Dj30UNt///39cWUh1K9fP6t/DgAAAIiLrl27WtOmTW3ixIk2Y8aMsDcHAAAAyF4G7aeffrrLY8uXL7cLLrjA2rZtm9U/BwAAAMTNbbfd5kkFLHoLAACAPJtBm5ly5cpZo0aN7IknnojFnwMAAABiHpgdPXq0HXHEEdalSxfWTQAAAEDezaBVtmy0HTt22KpVq+yLL76w9evXx3LbAAAAgJjQAmEbN260Tp06RR5r3ry5Jxnce++9oW4bAAAAUluWA7QtWrTI9PG0tDSrXbt2LLYJAAAAyHUrVqywP/74I+zNAAAAQIrLcoBWgdiMihQpYscee6z16dMnVtsFAAAAAAAAAEkvywHaefPm5c6WAAAAAAAAAECKyXKAVjZs2GArV660qlWr+vdvv/22NWzY0A466KBYbx8AAAAQE3/++ad9+eWX//lY/fr147xlAAAASGVZDtD+9NNPvvLtSSedZA8//LA/1rt3bytatKg988wzdvTRR+fGdgIAAAA58s0331i3bt0i3+fLly/Tx+bMmRPSFgIAACAVZTlAO2DAAM80KFy4sH+/bds2O/HEE+3TTz+1QYMG2RNPPJEb2wkAAABk22GHHRb2JgAAAACxCdDOnj3bqlevbg888IB/X6hQIRsxYoSdc845noEAAAAAJJqPPvoo7E0AAAAAMpXfsmjr1q1WoECBXR5PS0vznwEAAAAAAAAAcimD9thjj7VZs2bZPffcY02aNLEdO3bYxx9/bHPnzrXatWtn9c8BAAAAAAAAQMrKcoC2Z8+edvHFF9urr77qH0H2bMGCBe26667LjW0EAAAAAAAAgKSU5QCtFgR7+eWXbeTIkTZv3jx/rGrVqr767THHHJMb2wgAAAAAAAAASSnLAVrRImGDBg2K/dYAAAAAAAAAQArJ8iJhMnz4cHvsscci35999tnpvgcAAAAAAAAA5EKAdsSIETZkyBCbPn26f79lyxabM2eOPf744/bUU09l9c8BAAAAAAAAQMrKcoB27NixVrx4cbv++uv9+yJFivhiYXpMPwMAAAAAAAAA5FKAdtWqVXbcccdZrVq1Io/p+2OPPdZ/BgAAAAAAAADIpQDtwQcfbD/88IOtXLky8tjy5cvt+++/twMPPDCrfw4AAAAAAAAAUtY+Wf2FVq1a2ciRI+2MM86wSpUq2T///GOLFi2yHTt22Lnnnps7WwkAAAAAAAAASSjLAdrrrrvOfvnlF5s0aZIvDhZo0aKF9ezZM9bbBwAAAAAAAABJK8sB2kKFCtmQIUNs8eLFNm/ePH+satWqVrFixdzYPgAAAAAAAABIWlkO0AYUkA2Cstu3b7d33nnHXnnlFXvhhRdiuX0AAAAAAAAAkLSyHaAV1Z599dVX7c0337T169fHbqsAAAAAAAAAIAVkOUC7bds2e/fdd+21116zr776yh9LS0uzffbZx+vQAgAAAAAAAABiHKBduHChlzAYP368bdiwwYOygcMPP9zGjBljpUqV2ts/BwAAAAAAAAApL//ePKljx47Wpk0bGz16tJcyKFasmJ111lk2YsQI//n++++freDszp07bejQoXbyySdbzZo17dJLL7Xly5fv1e8qUFylShX75Zdfsvx/AQAAgJyiLwsAAIC4BWi/+eYb/1yoUCG75ZZb7Msvv7QHH3zQGjdunKN/PmzYMM+87du3r7388sveye3evbuXUdiTFStWWJ8+fXL0vwEAAICcoC8LAACAuAVoS5Qo4SUNtm7dagMGDLCuXbt6Nu3vv/+e7X+sjuuoUaOsR48e1rRpU6tatao98sgjtnr1anv//fd3+3vq+N500012zDHHZPt/AwAAADlBXxYAAABxDdB+9tlnNnjwYJ++JV9//bXdd9991qRJE/9+y5Yt9s8//2TpH8+bN8/+/vtvq1+/fuQxlUqoXr26zZw5c7e/98QTT9j27dvt8ssvz9L/AwAAAGKFviwAAADiGqAtWLCgtWzZ0p566in76KOP7Nprr/WFwXbs2OE/X7JkiQdvlV27t5RdIGXKlEn3eMmSJSM/y+i7777zTAX9nwIFCuz1/wIAAABiib4sAAAAYmWfrP5C6dKl7eqrr/YP1aIdO3asffjhh7Z27VrvcGrK1t7YvHlzpK5ttMKFC/tCZBlt2rTJbrzxRv+oUKGC/frrrxYrQaA5HuiMh3+cOAbZxzEIH8cgfByD8HEMwhfPvlOioi+LrOLaFT6OQfg4BuHjGIQv2ftRwevT52R/raEGaKNpSpc+NmzY4CvRjhs3bq9/t0iRIpH6XcHXojq3RYsW3eX5/fr1s4oVK1qHDh0sllQHbOPGjRYPuoAVL148Lv8rGWlgk9OTm2OQMxyD8HEMwscxCB/HIDmOwd720/Ln36sJX3FHXxZZxbUrfByD8HEMwscxSJ1+VFjUF0qF1xnrvmyOArTR9bY6derkH3srmA7222+/Wfny5SOP6/sqVars8nwFf5WhUKtWLf8+OMitW7e2K664wj+yQzuKC0veUKxYsbA3IeVxDMLHMQgfxyB8HIPUOQaJGpwV+rLIKq5d4eMYhI9jED6OQfiS/RgE2dV6ncn+WmPZl41JgDY7tNLtfvvtZ9OnT490apWJO2fOnEwDvRlXw509e7aXUxgxYoRVrlw5R9tCan7ewHEKH8cgfByD8HEMwscxCB/HgL4sso7jFD6OQfg4BuHjGIQv2Y9B8Pr0OdlfayyFFqBVBoE6rwMHDrSDDjrIFx3TggmqcduiRQvPKvjzzz89I0DTxo444oh0vx8svnDYYYdZiRIlQnoVAAAASEX0ZQEAABAroc4b69Gjh5177rl25513WseOHT2yPnLkSCtYsKCtWrXKGjVqZBMnTgxzEwEAAIBM0ZcFAABAns6gFXViNbVLHxmVLVvW5s+fv9vfrVev3h5/DgAAAOQm+rIAAACIhcRdeQEAAAAAAAAAkhw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CAkBWgAAAAAAAAAICQFaAAAAAAAAAAgJAVoAAAAAAAAASMUA7c6dO23o0KF28sknW82aNe3SSy+15cuX7/b5P/30k1122WVWr149q1+/vvXo0cNWrlwZ120GAAAAhL4sAAAA8nyAdtiwYTZmzBjr27evvfzyy97J7d69u23btm2X565du9YuvvhiK1KkiL3wwgv21FNP2Z9//unP37p1ayjbDwAAgNRFXxYAAAB5OkCrjuuoUaM8c6Bp06ZWtWpVe+SRR2z16tX2/vvv7/L8Dz/80DZt2mQPPfSQVa5c2WrUqGEDBgywn3/+2b7++utQXgMAAABSE31ZAAAA5PkA7bx58+zvv//26V2B/fff36pXr24zZ87c5fl6nrIUlHUQyJ///zZ/w4YNcdpqAAAAgL4sAAAAYmcfC4myC6RMmTLpHi9ZsmTkZ9HKli3rH9FGjBjhndw6derk8tYCAAAA/6IvCwAAgDwfoN28ebN/LlSoULrHCxcubOvXr//P31ftrtGjR9udd95pBx10UI62ZceOHRYvBQoUiNv/SjaxOk4cg+zjGISPYxA+jkH4OAbhi2ffKVHRl0VWce0KH8cgfByD8HEMwpfs/ajg9elzsr/WpAjQBtO7VL8reqqXFkkoWrTobn8vLS3NhgwZYsOHD7crr7zSOnfunKPt0GIOGzdutHjQBax48eJx+V/JSHXbcnpycwxyhmMQPo5B+DgG4eMYJMcx2Nt+WlAGINHQl0VWce0KH8cgfByD8HEMUqcfFZZg8dNkf52x7suGFqANpoP99ttvVr58+cjj+r5KlSqZ/s727dvttttus3feecc/d+3aNcfboR3FhSVvKFasWNibkPI4BuHjGISPYxA+jkHqHINEDc4KfVlkFdeu8HEMwscxCB/HIHzJfgyC7Gq9zmR/rbHsy4YWoNVKt/vtt59Nnz490qnVAglz5syxTp06Zfo7N998s33wwQc2aNAga9WqVcy2hdT8vIHjFD6OQfg4BuHjGISPYxA+jgF9WWQdxyl8HIPwcQzCxzEIX7Ifg+D16XOyv9ZYCi1Aq3pd6rwOHDjQ624dfvjhNmDAACtdurS1aNHC06D//PNPzwjQtLHXX3/dJk6c6B3bunXr2po1ayJ/K3gOAAAAEA/0ZQEAABAroc4b69Gjh5177rm+OELHjh09sj5y5EgrWLCgrVq1yho1auQdWdFUMHnooYf88eiP4DkAAABAvNCXBQAAQJ7OoBV1Ym+66Sb/yKhs2bI2f/78yPejRo2K89YBAAAAu0dfFgAAALGQuCsvAAAAAAAAAECSI0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ACEhQAsAAAAAAAAAISFACwAAAAAAAAAhIUALAAAAAAAAIJ3Zs2dbu3btrGbNmnbBBRfYsmXLdnnOzp077b777rN69epZ/fr17Zlnntntz0aMGLFXP0tFBGgBAAAAAAAARGzdutWuvvpq6969u82YMcMaNGhgPXv23OV5L7zwggdyJ02aZC+//LKNHTvWvvrqq0x/po+PPvroP3+WigjQAgAAAAAAAIiYNm2alShRwlq3bm2FChWyK6+80pYvX24LFy5M97x33nnHunXr5s894ogj7Pzzz7fPP/8805916tTJ3nrrrf/8WSoiQAsAAAAAAAAgYvHixXbkkUdGvi9QoICVK1fOFi1alO55+j76eRUqVLCVK1dm+rOKFStGfn9PP0tFBGgBAAAAAAAARGzatMmKFCmS7rGiRYva5s2b0z2m7/V4QL+zbdu23f5sy5Yt//mzVESAFgAAAAAAAECEgqcZA6YKqu67777pHssYWNXXQWA3s58VK1bsP3+WikIN0GrFtqFDh9rJJ5/sK8JdeumlXs9id9auXWs33HCD1alTx+rWrWv33nvvLpF7AAAAIB7oywIAgGSl8gNLliyJfL9jxw5btmyZlyLY0/P0dZkyZTL9mcomBL+/p5+lolADtMOGDbMxY8ZY3759fbU2dXK1OlyQCp1Rjx49bOnSpfbss8/akCFD7JNPPrHevXvHfbsBAAAA+rIAACBZ1atXz/744w978803vW8zfPhwK1++vFWqVCnd81q1amUjRozw5yqA+8orr1jDhg0z/dno0aOtTZs2//mzVBRagFYHd9SoUd5Rbdq0qVWtWtUeeeQRW716tb3//vu7PP+bb76xGTNm2IMPPmjHHHOM1a9f3/r06eMrvP3666+hvAYAAACkJvqyAAAgmakEwZNPPmkvvPCCB2unTp1qgwcPjgRXx48f71937tzZateubW3btrUOHTrYeeedZyeeeGKmP+vYsaM1b978P3+WivYJ6x/PmzfP/v77b++cBvbff3+rXr26zZw501q3bp3u+bNmzbJDDz00XaReU8Py5ctnX331lZ155plx3X4AAACkLvqyAAAg2dWoUcPGjRu3y+MTJkyIfL3PPvvYLbfc4h/B4mJz587N9GfR9vSzVBRaBq2yCySoSxEoWbJk5GfRlFmQ8bmFChWyEiVK2KpVq3J5awEAAIB/0ZcFAABAns+gDRZEUMc0WuHChW39+vWZPj/jc4Pnb926NVvbsH37dktLS7Pvv//e4umqfxrYP/l2xPV/5mX7bC0Q82N0Wbkd9s/haTH9m8lsn/x/2fffr4vp3+QYhH8MuBZlDdei8HEtSs5j8F9lBJRhmojoy9J+hNl+cAyyhjY8fLTh4eMYpF4/Kizqm6j/tnDhwoTtxyViX3afMGtZBBsbfC3qoBYtWjTT52e24IKeX6xYsWxtQ1hvlIP22S+U/4t/HVi0QNibkPI4BuHjWhQ+zoPwcQwSm/pqidqxpy+LMHEMwkf7ET6OQfg4Bthd/6RgwYJhb0ae68uGFqANpnj99ttvvgpcQN9XqVJll+eXLl3aPvzww3SPqZO7bt06n0qWHbVq1crW7wEAACC10ZcFAABAnq9Bq5Vu99tvP5s+fXrksQ0bNticOXOsTp06uzxfj6me19KlSyOPaSVcCVaHAwAAAOKBviwAAABiJbQMWtXg6tSpkw0cONAOOuggO/zww23AgAGeXdCiRQvbsWOH/fnnn1a8eHGfEnb88cfbCSecYL169bLevXv7qnB33323tWvXzkqVKhXWywAAAEAKoi8LAACAWMmXpuq9IVHH9eGHH7bXX3/dtmzZ4pkF6qiWLVvWfvnlF2vevLk98MADdvbZZ/vz//jjD7v33nvts88+8wUVWrZsabfddpt/DQAAAMQTfVkAAADk+QAtAAAAAAAAAKSy0GrQAgAAAAAAAECqI0ALAAAAAAAAACEhQAsAAAAAAAAAISFACwAAAAAAAAAhIUALAAAAAAAAACEhQAsAAAAAAAAAISFACwAAAAAAAAAhIUALAAAAAAAAACEhQAsgJaSlpYW9CQAAAADyKMYTAHITAdoktnPnznQNCQ1K/K1atco2btzoX+/YscM/cxzi5/nnn7dHH33Uv86XLx/7HkBCtMsAkFcwnggf44lwMZ4A/kVfNncRoE1Sajjy5/+/w/vpp5/6ZxqU+Js+fbqNGzfOv163bl3kOCD3qSO7cOFCe/HFF+3pp5/2xzgHEgPHAKneLqtdmDFjRtibBOQ5tB/xxXgiMTCeCA/jCeBf9GVzHwHaJL2rETTaixYtsssvv9wGDBjg39OgxNfXX3/tjfltt91mF1xwgf3666/cdYqT4sWL26WXXmrt27e3Z5991kaMGOGPcw7EV/T7ffv27f6ZQUX4OAfiv7+D9/2YMWPs4YcftgMOOIDjAOwB7Ue4GE8kDsYT4WE8kbjY//FFXzY+9onT/0EIdzWGDRtmP/30k+2zzz42cuRI27x5s919992RBoVObu7r06ePd2rfeOMNa9WqlR166KF+fNj/uT+g0Ee5cuXswgsv9P2t6Ul6TJ0szoH4X49Gjx5tP/74oxUoUMCuvfZaK1WqVNiblzKC97oGdApy/PXXX35u7LvvvmFvWsoIrjVTpkyx999/366++mqrUqVKugAIgH/RfoSL8URiYTwRf4wnEgt92fDRl40PArRJJjg5hg8fbs8995z17dvXWrdu7R2rJ554wv755x9v5GlQct/WrVv985o1a+zYY4+17777zhv1c845x+/Gsv9zRzCgCJQtW9Y6dOjg+1t3vvX5sssu4xzIZdH79sEHH7RXX33V6tSpY99++61nggwcONCqV68e9mamzHH48MMPbciQIV67TrXsateubeeee66dfvrpYW9iyli9erUHmjQd7Mgjj4xcr9SxzXjdAlIZ7Uf4GE8kDsYT4WA8kTjoyyYO+rK5jwBtEtIdpVmzZlmvXr2sRYsW/lijRo2sQoUKduONN1qRIkXs9ttvp0HJJcE+LVSokH+eNGmSP37TTTfZCy+84D9XY6JOVXAx4zjknDI8Zs+ebRUrVrT69evbgQceaDVq1PD9q/e+OlHa3y+99JLvb03V4xzIPcE+Xbt2rS1YsMBrd+kuq77v3r273XDDDT7IPuaYY8Le1KQ/Dl9++aVff7TPde1577337NZbb/UsHGVCFS1aNOzNTEoZry2lS5e2Hj16WMGCBW38+PE+0NaUSdoAID3aj8TAeCJcjCfCwXgi8dCXDQ992fgjzJ2kVMz8999/j3xfuHBha9asmd9h0l1XZSQIJ1FsBRcmNSLqtF588cX2ySef+M9Ut+uEE07wu04qqr1p0yb7+eef/Wcch+xTJ0nvdTXU2te6q33zzTfbRRddZKeeeqrf7R46dKjNnTvX6tata02aNPEpeqqdI+z73KNrTceOHW3btm128MEH+74+6KCDvH6XOlLqaM2ZMyfszUxaQU2ojz76yDuwnTp18nNFgw99fdxxx/kAQ9cixFb0dC9lGyjI9Oeff/o+Vw1BXYt0rXr77bf9OXou9QSBf9F+JAbGE+FgPBF/jCcSE33Z8NCXDQcB2jwus5NAnacTTzzRT6Lly5dHHtcdWNVqUcbB2LFj7bHHHovz1iY/XZg++OADu+qqq3xQUbly5Uj6f9Cp0jQ9Nejnn3++d7iUEUJx7ezTfj7kkEPsvvvus3r16vldbt1ZHTVqlJ199tlevHzixImeddO7d297+eWXvRHX1LzXXnst7M1PWnpPV6pUyb/WtUjHKbhm6Xg99dRTVqxYMevatastXrw45K1NbqpbV7VqVZ+SqoDHSSedZHfeeadfe1TgXz9H7tRuVDt7xRVX+LVe01E12FNwSXU01R6rLXjnnXf8uUwNA/4P7Uf8MZ5ILIwn4o/xRGKjLxtf9GXDwx7Mw6Jrfagmi2pEqT6XUs7POuss+/jjj/3udnDB+vvvvz3boHnz5talSxf77LPP0t0VR86pA6tsAl24Bg0a5B0r7eOHHnrIL25qVPr37+93Y9X4q9HX1BnuumaPBgZqKP744w+fYnH99dd7g6H6XHq/X3PNNfbkk0/68zQ1TMdERf3btGljRxxxhGcgIHcGd3pPN2zY0OvW6ZqkDBAdk2AKjDKidPdb16Py5cuHtt3JLLiuHHXUUX6tadq0qWc9qUMrOhZlypSx/fbbL+QtTR7R07tUu1GZNerAfvrpp36NUgaI6qZVq1bNr09676vN+OKLL8LedCA0tB/hYjyReBhPxBfjicRFXzb+6MuGixq0eVjQmdIJoTt3qgW1ceNGu+SSS7w2yP333+8fX331lV+01MBs2bLFp4fpDqAaGP0OYkf7t2TJkj6w0IVLNdLmz5/vtXHU6P/2229+p1WNujpXWhEX2acVnXUe6P3+6KOP2vHHH++1idRxUoOyfv16X9RC7399qBOlO67BogvKDkFsB3cayC1ZssTf38quadCggd/ZVmdXx0nTw7Tiqhp/nSsPPPCA/54K/ut4IjYr3Op6r/d/rVq1vDbUzJkzbd26dd4+KPspOFYagCgrBDnz5ptvWrt27SIdWtVunDp1qg+uFcTQdMnPP//cs26UcaPpYBrYaXCtmnbBdQlINbQf4WM8kXgYT8QX44nEQV82PPRlE0O+NOZC5Dnbt2/3u9qiu9b9+vXzTqruYiij4I033rD//e9/3sj88MMPXuBfNaR0d0PTMtQA6fmaFvbII494Zxexucu0YsUKv4Dp7pJqFKmBb9mypU8/evzxx/1OrDq0wfFDzgd2qhWl6Y7qHOn9rxp1Ku6vzqx+fuGFF9qZZ57pz4/uxFLIPPaU2aGC8bqTvWHDBlu2bJldffXVfndVq31qkK3rlK473OnOvRVutcK2akSp86ppwDoXpk+f7iuhaxXomjVr+iDv+++/90wpHRNkn6Y5Tp482fe72tdgYKF6da+88orXBlT2k2pmXnDBBR5wUkBDtQOjzwOCTEhltB/xx3gisTCeCA/jicRAXzY89GUTB7fb8hAVg1cx7KAx1omk6S4qXB5MrdDdPjUiOpGkc+fOXkNHdXWWLl3q9UHU0GuKhlbFpTOV80ZEWQY6JrrLd/jhh/u+nTBhgtct0nSZoAFfuXKlr3xIbZac7fOgJk7QOVKHVY+p/o0aDnWq1JHVCsNqzPU+1/P1vOgMAzpTsaVriz6GDBni+18ZHhpsqwHXdUZ1izSA0zVJ2QkqLo/Y0ftZd7n1vteHVtzWYFpBDQ2o1cHSQE/ZTr/88ou3C3fccUe6mnbIOgWQtLq8OrTqkH799dfeHpcqVcqnmyqwoawnTcVTeyBacfvQQw+NZH8E6NAiVdF+xBfjicTCeCL+GE8kJvqy4aAvm2CUQYvEN2HChLSzzjor7Z9//vEPOf/889OqVKmS1rVr17QtW7ake/6AAQPSGjdunHbfffel/fHHH2m///67f3366aendevWLW3u3LkhvZLksHPnTv88ZcoU3/8tW7ZMa9CgQdrgwYPTVq9e7T9bt25d2tSpU9NmzJiR9tBDD6WdcMIJaQsWLAh5y/O29evXZ/r49u3b095+++20Nm3a+Hmh97t8++23fnxat26d9sEHH8R5a5PXTTfdlLZkyZJ054Le4zfeeGO6523cuDFt4MCBaQ0bNkxbvHixPzZnzpzINQyx1a9fv7T+/fv717oONW3aNO3+++9P+/nnn9Mef/zxtB07doS9iUmlT58+aS1atEjbtm2bf6/rfY0aNdKGDRvm37/yyiv+3r/ooosiv6Nj0KVLl7Sbb745tO0GwkT7ES7GE4mF8UQ4GE8kLvqy8UVfNvGQQZtHNG7c2Ati666EpiGdfPLJfsdbd7iVXq47SbqjpxosortOuhOru0tB0fjLL7/cH9eUJu5054z255QpU/yOkopmq+aKVltVnSKtqqp9/tNPP/n+Vtq/pmbozuvRRx8d9qbnWc8884xn0OjOqaaxqNZN/fr1ve6ZMg1UG0p38V544QW/861joTvfuiv49NNPM/UlRjTdSFOKNA012urVq/2aEz3VS+99nRuaeqQpqxIcB6bA5Fywr1WfS7W3tKhI9erVvTbdeeedZ02aNPFMs2nTpnmB/7p161rt2rXD3uykofNA1xxlPKkul9pWZXe89NJLnlmgDDVN01ZNL2Uc6JqlNll1u3RNEqZGIpXQfoSP8URiYTwRf4wnEgt92XDRl008BGgT3Lx587zzU65cOf9eNYdUEF61P+6++24vXq4Czirer5NL9YqCQv333ntv5ITRZ9XS0dcZU9GRNZrypekwmnqkY6EPTTdSx1ar2aqov1YxPOWUU7whUSdYFziKl2ef3veqcab3r84JTXPZf//9vV6azg91lrS6Z9WqVb3TqjpSqpEzYMAAb8TVCaOAf2zoOqIppqKpj9q36kjpQx1eLSIS3XHS4ELHRoOKaAyucya4tmsg9/rrr/sq55ryqGlJqhuoQbhWQA/2tabj6dghNp1ZBS+0j7/55htvdxV40nu/cuXKPgVSUyO1zzWo1iBbC+/oew0CVVNTX7OwC1IN7Ud4GE8kHsYT8cd4IrHQlw0PfdnExd5McF9++aU9++yzXutJhbFLlCjhK+mpLpdOHNUCefLJJ+2yyy7zDpQucmrIgzvfQWeKuxo5F+xH1d9Sp1W1WHSHSR1aFe3XftcdPt1h0vHRCsRa5RM5o7tzev+rKLxq3ahwvArDqyad7raqBppW9dQiIp9++ql3btV5UqdW58djjz3GICIX6H2vgbYGC9rHWlFV16iePXvafffd5/WgdBw06FPnl/pQOafaUNrfGlDrWrRo0SLf91pxVYNuXY+0iIUGb2oTAjov1KFV+4Gc6dixo2fXaD8ry0yLIygLTSsMq03W4jl6jmjFea3E3bVrV88AiaYMQDq0SFW0H/HHeCJxMJ4IB+OJxEBfNnz0ZRNbPtU5CHsjsHtKKb/lllt8eotOAp08OmQ6kR588EE/sdRoyBVXXOHTZEaNGmUNGjQIe9OTkhpzdXKvu+46u+uuu7yhVkOuzpSKlGt6gKaKafqM7vxlzPpA1juw2q86DzTVSPr37++dpUaNGnm2QfSdVK02qYZeUy/UydLPmQYWu0yPjAtSaFqq9rFoIK3sA12XdB3S18r+UMOtc0LnRmZ/A3tHQQtl2ejar2CFVq3VtDsdA606fPDBB0c6sLqrrWL/mg6pTrAWXHj++ec9Sw05o+m/WkhH135Nw1PWn46HHtfUSK2urZ8tWbLE3/d6vH379tarV6+wNx0IDe1H+BhPJBbGE/HDeCJx0JdNDPRlExsh7wSnOxi6ECn1/JBDDvGVPbWink4Seeihh/yzOlW6I6VOlmqzIPYWLFjggwjV3lJGgaa/aJ/rzramvwSr4WrqjKZncO8jZ4K7cupUBRkccuutt/r7XnVyNGDT8Qg6VRrQ6fwQ1S1CbEQPjNVRVaaBsgpUu04dKmU/KRNHq9zqTqsGdqpZpw6VnqNpSUyByT5NrVPWh+rOBZlkut5oKtKcOXN8WlgQ6NBUJWWHqAOsldDVhigrjQy02DjzzDP9swYUukYp00zvc113tPKzBhTq2KpGl7JAdB4oO4rMM6Qq2o/EwHgicTCeiC/GE4mBvmzioC+b2MigTUAZswTef/99b1DUeGu6hU4cXaDWrVvn01/UqT3jjDP8whegMxtbqlOku366m6QBRLAogqYg6Y637qqqg6W7UBpcqPHR98g5ZXzofa873tHva3WqdIdVd741BUadquiFQ2hEYiN6PwadK+1jTY3RghbqXCnToFu3bv68IUOGWKVKldL9DRZ0yT5db1QDqnfv3t5JUvF+tQ/an7qz3adPH++8aoqepodl3OecB7GRcT+OGDHCp54q00yLu+ja9NZbb3n7rKmomq6nc2PVqlU+wGZ6MFIR7Ue4GE8kHsYT4WE8ER76somBvmzewFyhBO5MqXC56uHUqFHDswhUJFt3NpRtoIuZarBoNT11cjU1QL8bxNvpTMW+Q6XaULNmzfKObOCBBx7welGi6WJqRLTqIZ2p7NOUL01BCuh8CAry630dvMeVcaPzQvtddaXUsEcP4mg8YiPYj8p00jQ7dbC0WIUG1LqjqmLyui5pKqSee9FFF6U7fsLgOnu0WIv2q4rx62tN7woya9Rp1Z1tLaigwYSmIKlTFeDea+yobY2+nuh7DeI0LVWBDgWVdG0666yzrHv37j4lUtOF1dHVavX63Yx/A0gFtB/hYTyRmBhPxA/jicRAXzYx0JfNQ5RBi8Swc+fOyNcPP/xw2hlnnJF2zDHHpL366quRx5cuXZr2v//9L61p06ZpX375ZdrTTz+dNmPGjMjv7tixI5RtT3bar5MnT05r1qxZWps2bdJ+++23XZ6zdevWtO3bt4eyfcli1apV/p7v169f2qJFi/yxu+66K61Tp05pU6ZMSVu9enXa5s2b07Zs2RL5neHDh6edcsopaYMGDeL9n0v++eeftBtvvDHtxRdf9O9//PHHtP79+6c1bNgwrUqVKmk333yzP75ixQp/np6PnLntttvS6tWrl7ZgwQK/3vTs2TOtWrVqaVOnTvWfax8H+1nP6dq1a9qFF16Yrr1AzkVfU9544420AQMGpN1zzz1pmzZt8sdGjx7t54DabD1X7cDzzz+fdv3113M9Amg/QsF4InExnogPxhOJgb5sYqAvm7dQ4iABaWXb0aNH2+DBg30FQ93l1iqfa9eutbJly/rd7RtuuMG+/fZbnwqjQtuk/8dOsB9VI0pTYX7//Xc77rjjrHLlyj4FRlPAVKxftVlUzJzpX7GlrAK9v08//XSfcqHMm+eee873se60qkaOpkBWrFjRMws0Pezjjz/2qUsqbI6cy3gt2bx5s6/mqff7CSec4NPDqlWrZieddJJfk3S8VCdK2TkBpqVmf99r6pdWS9WUx2OPPdYfV5aTpohNmjTJMzyUiaB9LNrPypBSPTW1GboLrkUVEDuqx/j22297O6BjomtTUMtO7bWyQlS/ThloyjDQMQmyDVjYCKmE9iNxMJ4IF+OJcDGeCA992cREXzZvIECbYH777TcvEK8TRhetn3/+2Vf6DDpNrVq18sLNuph9/fXX3tnV45w4saWGQ3Vy1JnVirf63KJFC280VExeqx2qIVen99BDDw17c5OOpj2qFo6me2mFTxWQV6Py3Xff2dKlS71Q+Y8//mhr1qzxqXmvvPKK18pBzkVfSzRY0OBanVhNFdM5oSbj7LPP9tU/jzrqKC/sf8899/g5oQEfYrP/g4FddKDivzq2ai/U0TrssMNCfhXJJajNqNW0FcTQdUf1uNQWaMVtBZbUse3Xr5/XUfvf//7nv0eQA6mG9iNxMJ5IDIwnwsV4Ihz0ZRMPfdm8gwBtglFdIq0WqVo4OlF091s1WZRtoIuX7nLrYhasLClkGuTM1q1bIzWJRA34lVdeadddd52ddtppfgfw+eeft4kTJ3qH9vrrr7cPPvjAG3g14iqwrUaIi1fs73xrxU4N8HT3W3f1om3bts1r2KkTQKc2NqIHZioQrxW3lfnx5JNPemO+YcMGz77R4haiVaCVnbBp0yZ79tlnGdTl0rGI/loDCnVs3333XW8LGjRokK5ji9jTe1sDCg2yNdjToi1azEVtg65Dr732mgebtABPs2bNyIBCSqL9SCyMJ+KP8URiYjwRHvqyiYO+bN7Bng9RZneplcqvRvv111/3hRS6dOnijYmmxOiE0d1XTYeJxoUs+3TnWsXJVRA7OBa6q6oLlB7TvtWHpmjo4qW7ferwNm/e3DtQVapUYf/nktq1a/u0L931VpF/TcXTCpKixkSDPE0JQ+wE54DusKqhVnH4hg0b2iGHHOIdp/3339+zD5TxpBWGg99RxoE+k3mTc8Gd6uh7p9qnwcBZgzhlg4gyozTobtKkSYhbnFwyew8r0KGFKxRg0sBa2X8a7CkLqn379jZt2jRvM/S9ME0VqYj2IzyMJ8LHeCJxMZ6IP/qy4aIvm7ex1xPgxNGqkcEqk5pipClHarR1YStZsqQ/rsZcNbp0Z496LLHRv39/r0U0fvz4dNMwVP9GFzE12HpMFyg13J06dfLn6454uXLl/MKG3HX88cd7Y6JaOLrzpwGf9n2w+idiTw20Bg56r6sm16+//uqZUBrkaWCn971W2tZ1S8dCjboacBrynAuuQZoOPGHCBL/uqE6jpn+pQxvsY3VslZGj65RqpalmmjLTyLqJXbuseoFayVk1utQmqw3WirYPPfSQnwMKbCgDUHXSgnY6wHmAVEX7EX+MJ8LHeCLxMZ6IH/qy4aIvm/ex50MSnDgDBgzwYs2qe6ML1H333ec1oy6++GJP/1cdkBUrVvjP1q1b551cijXnnKa3vPHGG16PRVPvovdnnTp17KWXXrKPPvookuIfFMrW1DBq4sRXzZo1PTPhxhtv9KmQutPKMcg9er+rkdb5MHXqVHviiSf8GqQsKH2t80AF5HWeBHRHnIY853Rtnzx5smcVqDOrLCcdAy2wo7qN0YGM8uXL25133ukDv6DAP3I2oAjaANUC1LRTtcFqj5V5pqmooswbZQEqCKIFLEQZUABoP8LAeCJcjCfyDsYT8UFfNjz0ZZMDLXKI1Jjrbqsai1dffdXvpl566aVei0iNvRZMUEdXd5PUyOsx3enTRY3OVPY98MADvi9VB0pTiqL3p6a6NG7c2M444wxfdVINjGzZssWPke4y0ZiHMz1J54Vq5QT165BzmZUg12NqzFUbsFu3bv5+17mgaagtW7b0+kUZMS0vNsdBi7poKqqmAKuGo645uqutz1rYRYKOrSj7I7p+ILIvyNh47LHHfH9rYKFsG01NVd06DeY0LUzttqYJa4CnQIfOC73/g9ppQKqg/UgcjCfCwXgi72E8kXvoy4aPvmxyYJGwEFP/dXdbBeW1Ul5g/fr1fsdDaf6q4ZWxWDkF/HNGjbIuVGo4dPdaqf5BA639rQZDU+5UN0odXE3NUE0prbCqlQ5VyLx69ephv4yUpcaFO6yxEZ3loWmoaqCV5aROlN7/Wtn2yCOPtBNPPDHyfE1N1d1wTZNBbGkasDpMCm4oI0dZBaLVbPW9FrBQ9oGuT8gdyijQ9Edl1SiTQNNTlfmktkHTwJR90K5dO59GrGCHBuQ6h5iejVRD+5EYGE+Eh/FE3sZ4InfQlw0ffdm8j6MQYqdKDXTGO9fq3GpRBd2RVc2QjB0qOlPZp7vZWi2yePHiPliI7kxp5VTdbRo1apR/r1ppd911l7Vp08Zmz55thx9+uNWrV8/v8iE8dKZiPwVG73s13LoeqeHWAPqqq67yunVq1N966y0/dzRNRgM+NfiIPXWMlGGjqadz5syJdGorVark079U406roavzpOsSYk8ZZdq/et/rOGgArXNCCyb8+OOPngnSunXrdAtZqC2hQ4tUQvuRWBhPxB/jibyP8UTuoC8bPvqyeR/zWuJAb/poututD62U9/nnn9vcuXPT/VxZCMo8oPGIbQdWF6x33nnHL1I333yz39UWXbh0sRo2bJhPfQmSylXHq2nTpl7A/Nxzz6UzhaSbAqP3vLI/NKD+5JNPvH7ahx9+aGvXrvXsGt2F1UBDzylcuLDXrFMDzhSY2NPiCRrYacqjsnKUhRCoWLGi14+qXLmy1apVK9TtTMZ2Ofha13wFMfQ+v+OOO7zzqqmpQR3Hgw46yLNuojE9GKmG9iM8jCfCx3gC2D36svFFXzY5UeIgjtPAPv30Uy/IrNosqkl04IEHemOtaQC6oxSsJqkTKGjoWckwdoLUfU3FO+ecc3yakVY1fO+993wamBoVIBWmQ+q6pBpEGlh36NDB2rZt61NddD269957fcqLrlW6Tmm1T12rNBDR7zIFJnbHQXeyNe1LRfpVq06ZNlrVWcdBwQ7VENQgLzprhxWHY9sua5D9008/WZkyZfxcUPBo0aJFtv/++6erida1a1fv9KrGI+0yUhHtR7gYTyQOxhMAfdmw0ZdNXgRo4+Shhx7yAv7qRGkVVZ0c//vf/6xRo0b26KOPerFyNfC6262TTcWadfFiddXcoU6V9r8uXrfccovfUYpubIBkE30tUedIH2eeeabfYZ03b55dffXVPpi74IILvLaaBtyqVxSdecP1KHa0qq0WUNBdbgU71qxZY507d7ZevXp5/caePXt6XbtOnTox2Iuh6Gu83udqa4844gjPPDv//PN9v6ud1mBD2R+alq3pw8Gq52qXaSeQamg/EgfjicTCeAKpjL5sOOjLJjduY8eBViycOHGi11zRyaOpXrfeeqsXjFeauR5XZ0s1jHSnQwWdVRuKTIPYCC5Ay5cv9wuSvtbdJK1uqDvfulAdc8wxfndPnVcuWEg20QMzZddoFU9lOgVZN7r7rWkwmnoX1K7TzzLe4WZwFxva31rMRQGNZs2a+QBbU8KGDx/u7YM6tupwqV6jvtdUMK2+jZyJXhRH01DV7mrxFmU+DRo0yJ566ilvc3VOaHqeVtlWIKpGjRq+Kn2w6jDtMlIJ7UfiYDwRLsYTwL/oy4aDvmzy48jEoUOrlHPd2VajrU6TGvUHHnjAV9h7/vnn/c6rpohlPPk4cWJDnSPd4evbt69/r+PQrVs3q1u3ro0dO9bOPvtsb2B69+5tJ5xwAoMIJJ3gPa07q9OnT/dC/WqctYqqGnJ1moLBtQYUX375pZUtW5ZrUAyo06TMAmWbBTQNVTUDW7VqFelkXXbZZX7dV+06TVmtU6eOH5uDDz6YDm0OabEWtbHKKNM+1sfXX3/tWX/q0OprrXSuVeZfeuklb7+VCaUVh6PRLiMV0X6Ei/FE4mA8gVRFXzZ89GVTBy1HjO8kTZ061ae7BHdMdRKoDotWUBWt8hms9tmjRw9fYU/F5TNWmmB11djRne5+/fpZ9+7dffqd7iSp9sq0adN8BVbd8dZx0p2+b7/9NuzNBXLF6NGjfSBRunRpb8g1sFPnqWXLlj7oU80iNeQdO3b02nbBAIQqONmj/ab6gApWaHpXNF33NfVLGQXqJKlNEE2N1NTUr776yr/XAE9ZUsg+rTD/7LPP2n333efva7WtmoanfazBgr7WVGydB7fffrufB+rYqr7mrFmz0v0t2mWkKtqP+GI8kZgYTyDV0JdNDPRlUwsB2hjRCaDOqWp+tGjRwt56661ICvppp53mNbq0uq2oMyWqA6Li2erwMgUmtoIOqqbiqWFR0fIuXbrYlVde6Q2HBhdDhgyJdKpUu0V3pHR3EEgGGQdplSpV8qmnGsBpdW3R+13nhKanakqqrlnKBHnjjTciU2C4NmWP9psWy9F1RivXarD25ptv+s+0j9WheuGFF2zLli3eJmjfq0aUjgkd2dg55ZRTfFGEJUuWeGaTghu61isLUMdFQRC1xQ0aNPDnq2048cQT/TmsMoxURfsRHsYTiYXxBFIZfdnEQF82tZDfHAPKGFBHVIX7VX/l8ccf9zpdTZs29e+V3q/OlO586O6Spgf8+uuvfkFT7SKdPIidoObT5MmT7cUXX/QLlhoMNR5qSFQnR2n/mg6mY6VjpyljuvNNxxbJILrumTpSWqjl9NNP98yP66+/3gfUmn6kwYTq1uln+ojGFJjYUCdJWTYPP/ywrV271o/Fqaee6rWgVLdO+1mZOBr8qZC/PmvKGHJu69atntmhzD8FN3QuKLPv7rvvttatW3s7oEG2ajUqw0M1upQNeN5551m7du38b7CwDlIN7Ud4GE8kFsYTwP+hLxse+rKpJ18a849y3JnSiaPOkk4M0ffqNN111112/PHHe2aBancNGDDAvvnmG0/7V0dLd5pYXTV3KJ1fRcmbNGniDcqnn37qx0PHK3q6wGOPPeYDDK18q4sfxwB5XfS1RFNfNJBeuXKlr7J60kkn+bmhzBx1nPT+32+//bj+xMGcOXO8eL+mIaleYL169XxhBWWkKdtA2U86TlrkRXXtkH3PPPOMZ5ktWLDAypcv7/UA1eaqnVY2mrIN1B7o2q9O7ueff+4Di08++cQH4BpsKLjEAi9INbQf4WE8kZgYTwD/oi8bP/RlUxcB2hzQSni6qxrUGQrucOiutqbA6K6SOlLVq1f35yrVX/WjVK9FCyjoOayuGnu//PKL313Ssbj00kv9Tp+Km6ux0N2m6E6VLmIaaBx++OGhbjMQa7rLPWPGDB9QLF682N/nWtFT02Q04FCNtMqVK/u0JQ2yETtBZ0gLKKijqv2ruo3qZKlYv+oKqmN78skn2w8//OCBkHLlynl9L65FOaMMA73njzzySM/w+/333+22227z6XY6LurYasVbtcdaiV7nhgbWykJTuzx06FAPckSvkgukGtqP+GI8kZgYTyCV0ZcND33Z1EaANptUoFmZBVo4QdO+ghVsRZ1Y3dm+/PLL/UTRndVixYr5XVVNQYrGiRM7eivruGhlYX1Wx0lT8WTjxo329NNP24gRI/xCppVugWSlQvEDBw70a47uZusOrFYYXrZsmV1zzTWeCaJBdqdOnfxDNYwQ2w6tVnpWMX9RB2vw4MFew1EDaq26rY6tFhpRQX/Exs033+zvcU011YrBEgQsgs86PpoOrHOkSpUqnpGgQYcG3spM0LEjyIFURvsRX4wnEg/jCaQ6+rLhoS8Ljlo2KZ1cdzc0rUidU50oqvWhlVQXLVrktYp0F0k0JUkXNE0HyNihojMV24ZEFzJdpFRAW9kFX3/9tddj0d0n3f3WlCPd9dYF6+yzzw57s4FcOQ/03lemkwr4S/369X0qpLKdNPDWdUuPKTNEi78gZ4JsJ9H+12IhutOteo1a6VxTTrXPVRNKWWfq7Oo6pDvc+pmmsCJnlD2gxYvUsQ06tDofgs5p0LFVp/eiiy7yx7SYkbI/tAq32mnR8aBDi1RE+xEOxhOJhfEEUhV92fDRl4VQICeLdMdIFyI57LDDrEOHDnbJJZd4DRBdmDQd5oknnvDOlIo0i6a86HuSlWMv2Kcq2K+pYMogUNF+3dXTdAxNAZg9e7Y/R3eWtOKqOr2q5QUk6/mga48GcNHXnOOOO84XclHHSoNs1VGrWrWqT4FRY4/s0ZQiZZepM6Trj2gRF7UHF154YaTzpK+VjaNOlAZ4qtlVoUIFPy6ITdus2mjR0+oy1txSPS4NuNesWWOdO3e25s2b+6rnQb1HoW4gUhXtR3wxnkgsjCeQyujLJgb6shCOXhapUVb9IRWM150KTT1SQWZ9v2LFCm/MVftDFzh1XEWre+oxVjPMnbvcqvukhkINRps2bbyBUXaHFlFQZ2rkyJFevFx08dJKh2R9IBnoOhMtaJBV/+mzzz7zelAZM3Vq1qzpDbkWFNHUPeEua/Zp2qkyzbTvg+OhKaiaFqx9rCnAmiKmQZwyDXS9Uruh4IYyodQ2IOcUwND7Wx+ZnRui7CedE6rzqLZD07VVRy362AGpgvYjXIwnEgfjCaQ6+rKJgb4shABtFqk4sy5EU6dO9SLxtWrV8rsc55xzjt/F0B0o1ZEKOrqqy7J8+XKvF8WJE9u73LooTZkyxVcU1oBCHSqtGKmVDJXhoZUlVc/rxx9/9Kl5KmAe/B6Q10Wv1KzzYNy4cT7IW7JkiWfinHrqqZ7doZ8pE0erq7788st+zWrXrp2v9rlq1aqwX0aevw7peqM6jdOnT/drv6aI1alTx6eJaaEdXZNuv/12XwVdtep0rQragWDQjZwfBw2SNeXr9ddf9+91bmTMMtPUL03Vjn5c7YG+J9sAqYT2I3yMJ8LHeAKpjr5sYqAvi2jc9s4i1V7R9Bd91gVJdyyCKUhK+9fJoUZcJ8jMmTO9M/XOO+9EpoGRaZCzu3uquaWLkBqFTZs22TPPPGOXXXaZ38UOlC9f3p566im/q9e6dWuffqGOrjrDQLIIGmFldkyaNMkHdspoUobNVVdd5fWLNLBQ7Sg15MrW0e9oIKhzp2LFijTkORAMzIKFWTTlSNN+da1XW6COrTq4WkxBiyjIoEGDfCVWdWyj/wZylvUkej83atTIxowZ422Asp6CRRJ0fPS16nopyyNjpgfHAamG9iN8jCfCw3gC+D/0ZcNHXxYZ5UujkFGWMg1EF6XNmzfbwoUL7ZZbbvG6K1rRU3TS6M6TvteJNWHCBDpTMaB9qlo4WtFWWQbBcdBdPN3RU7aHakapoyvK/FDWh1Y31AVNnS9N1QCSiabf6c62rjfVq1e3L7/80uuiaWVP3YXVFBlNVVXnSp0vnSc6Hx566CHvgGkwHkyjQfY6VNErZ2tFZ62yrWOgDBwFNbQKq45LkSJFvLZUcKwQO1oBXftUWQVqIxTg6Nq1q9flCqjN1tRV0erbBJeQ6mg/4o/xRPgYTwD/oi+bOOjLIkALn4XO1AcffOB1oWrUqGG1a9f2ov66iCndXyt66i6ranNppUPVh9Ld1mC1PTpTOaPsDnVgdYdb1KlSVoc6q1pZVR0qdaaCTpUuan/88UeksSlatGjIrwCIPWXUqE6aGnRl1uhapAVGdKf7jjvu8Ayok08+2Z+rAbW+10BjxowZvuAFg+ucdWg1NfXdd9+13377zdq2bev7X50nBThE01RVs1FZB6pXp6L+RxxxRNibn3RttM4DtQMaMCjIMXz4cH//q0aaAh4afOs9v27dOq+lFkwPpmOLVEb7EV+MJxID4wng/9CXTRz0ZRGNVv4/BG/6Bx980OtvlShRwutuaRqM6kFpVVtd3FQwu2PHjn6X6bTTTvM7sUJnKud0V++UU07xTI9bb73VszbUqKhItupCKcNDAwx1YIM73mvXrvXU/+gpAUBe9dZbb/kqwqoPpal2wbQWFe/XVDsV6tc1SNPvdB3SIFoNuqZFNm3a1J+r1T4XL15sZcqU8akzLGyRfbqeTJ482af/6lqvwZ2mqkr//v3ttttu88VEdO0/77zzrHHjxmFvclJOBQvaaO1fBY8WLFjgAQ29x9WJVV1NtQ8aYGsqns4PghxINbQfiYHxRPgYTwD/oi8bHvqy2BNKHOzFiaO7GbqToZNGnVIVblatqKBTpU7Uxx9/7HeatPqeMgsomB07wbQLdZKUzv/SSy95TRbVSFMGh+ql6WdafVJ3mLSqobJBdHdJAxIgL9M1Ro21pplqoZYWLVr4e18DhvHjx/tAQ4Nn3dFWB0q0gMUNN9zgi4lUrlw57JeQdHS9ufzyyz3TRu2A2gvdxdZ1StNSlfmk2oHqVN14440+2FZ7wsAudu2ysjuiM5kuuugin3qnNiKgqah6XvHixSOD7ehpfECyo/0IH+OJxMF4AvgXfdlw0JfFfyHsvhvBiaPOkTq1yiI4/vjjIyePLmC6u6TndevWzeuDNGvWLPK73NWIHV2A3nvvPa8NdeaZZ9qJJ57odXC0uIU6VZoCoIGEHlPGR5DhQWcKeZ06QxqkjRo1ymvQaTCnlVbPPvtsH2Afe+yxPshTYx5cd5QppVpRJUuW9KmRmd2pRc78/fff3nnV/g8Etel0TVJ7ceedd/oUSRX7Z/pRbATvYWU96VqvtldThBXAUK001e+aM2eOZ0DpXFCdwOhagToP6NAiVdB+JAbGE4mD8QTwL/qy4aAvi/9Ci/8flEmgu6e6mxp9l0NFm4OpSqrJcs0113hR5+DEoTMV29VW1WFSRodWlBR1nrRQhTpVelw1WjQQUWOjwYY+gLw+uFbWkzJpNO1IOnTo4HdVf/rpJ+84abVPvf/VmOtceOCBB/yOt57/4osvUp8olyjLSR0pdayCFVZFj+n6v3TpUv++T58+IW9pcgjew0GgSG2CMj90jmgqapMmTTwzUFlp77//vndqM2uDCTIhVdB+JB7GE+FjPAH8i75sfNGXxd6i1Y+SWUdUJ4mmvaizqgLaWlAhmG6kTpXuMmnxBNWSCnDixJaOiTqzWkRBdGFTQ6LaOJqSobtIF1xwgZ100knpjgOQV6kgvwYImn5XuHDhyGIV+qyagRUqVIicC2rAVbNOxeN1x1ULYGgAqPOCzJuci84eC/anFknQNUir3CqzRrWiRG1DqVKlvM0IqgfRHsSuXdYCCgogqf6WTJw40T80eFDNTC32oizBVq1akfGElEX7ET7GE4mJ8QRSFX3ZcNGXRVbQ88rkxFF2wcaNG71QdoMGDXwqjL7WCqvq5LZs2TLSaVW9oiuvvNIvXEwDyx0bNmzwrAINIEQDDzUeGkRoVckpU6bYwQcf7FPGWF0VeZ3umuputqYVaXCtOkNBzSE13rNnz/bFWrTK5yGHHOLve9Ul0kBbHwH9HoPr2K1wqw6sFtPRdadhw4a+wIgGdDoOyozSStxffPGFd65Ur462IDaCdnnIkCHeYdV7XVkG1157rU9R1UBaK2wPGjTIli1b5qsQq26gOrVk/yHV0H6Ej/FE4mI8gVREXzZ89GWRFSwSluGu0iOPPOJ3sNV4q96HGmjV41JWwV133WVvv/223Xfffb7aanTnlc5UbESn/SvbQ/tdFyVNvVMdqOeee85XWw2oRo7uhGv1yeCOOJDXKdNG73V1nIJpeD169LDp06dHVs/+7rvv/C646JzRuaDaRYitDz/80Bd1ad++vWefTZo0yRYtWuSf5amnnvIpkgpoaGCndkIrpSNnottUTQtWjcbgHPj555/tmGOO8X0dTD9VB3bFihX2zDPP+KrEaquVHQKkGtqP8DCeSByMJ4B/0ZcNB31ZZAcB2iiqzTVy5EivT6SC2fr6scce8ztIQUF/nUSvvfaaL7qgu+GIvQ8++MBrcWnwoDpcQ4cO9Zpoqgulzm7Pnj29bs6SJUvszTff9JWINRUDSCaqiaYC8hrAqZFW1pOuTZqeqg6UMj+UnaOB9i+//OK108h4ik0nSh0kfa3FE7TC7fnnn++BDg3ydMdbC7toUK0MKC22o2OhxV80AA/qPSL7orMFVEdz7Nix/nVwDJ588knPFFS7rDZZmYLB72hF+ksvvdQHIpq6B6Qi2o9wMZ5IDIwnkGroyyYO+rLIrpTtjY0bN85OO+20yF0J1SRSR1UZB0r71xQA3b3QnQ51ZnUnvFevXr4C7hFHHOHPQezpGFx//fV29dVXewOhO0fK6tDUC3Wy1JF99dVX/U6TOltaFZfOFJJBxiksyubQtUeNs2qhqZ5gUDtQz9U5oIFf9Oqr1AzMPi0IonZA0450HIJpwdqnqgOlKUedOnXyxXUuueQS69evn3dgVUNKUyQ1XRixGVwE54GCHPPnz/dMA608Lzou3bt3jwy+FYDStOEg+0BTWDU1TFPFgFRB+xEexhOJifEEUhF92cRAXxY5kZIFLXQHQ1Nbou8O6STSHVQ14qq7omwCfbRr184WLlzoDbuKOotOKHVig+lhiI158+Z5Rof27xVXXGFdunSxhx9+2BsLNSKaJqa73ZqapA7x8OHDrVq1amFvNhDTwbVWTf3++++9TpoWrtBUGN3R/vrrr/2OqwQLi2ScAMHgOns0eFbtP62iqhVUNbBWHUd1oDQ9UnWgdA1q3Lixd2b1uO6GawDIJJTYCbI9gg6tsgsU0FBbrQUUghWF1U4rs0DHStmByhQMOrQ6VmqbowNPQDKj/QgP44nExHgCqYi+bGKgL4ucStkSB8GqtrNmzfI72FqpUBc1FfNXB0p3XTt27OjPfeONN/xOq1ZepQ5I7vjzzz/9LrcKl+vOnha4CKijq0ZGHSp1oljREMlcs071oHQ+qDZa7969faVPZXuo4dZq26ofFdwRR85p32rA3K1bN687N3fuXPvss89swYIFPk34888/94L+mgam4v4BBT402NO1iuL9saW6XLrWd+jQwRes0PdqAxRoUvZT+fLl/Xla9VydXZ0TWn1bNJVPx6NkyZIhvwog99F+hI/xRGJhPIFURF828dCXRbalpZC77747rVu3bpHvp02bllalSpW0IUOG+PczZ85MO+aYY9I6dOiQ9uuvv/pjGzduTLvkkkvSrrvuurSdO3eGtu3JbvPmzWnvv/9+Wrt27dJat26dtn37dn98x44d/nnJkiVprVq1SmvTpk3atm3bQt5aIDaC97c888wzaQ0bNkz7/PPP0xYuXJj27bffpnveww8/nHbsscf684LzAznTr1+/tNq1a6d999136R6fPXt2Ws+ePb19uOuuu9JuvPFGPzYffvhh2qRJk9IefPBB/72ffvoptG1PVh9//HFanTp10urWrZv2xRdf+GNqe3VOnHvuuWktWrRIW7Zs2S6/xzmBVEP7ER7GE4mL8QRSDX3ZxENfFjmRMhm0W7Zs8bvWunutzALdaRIVjNfdjauuusouu+wyn46k2lCVK1f2O+LKTFA9F9110rSwjHW+kPPVVUUrSmq/qmi/7uKVKVPGF1OQYJ9rSph+R4XMgbxM9QCDjBqdCyrMf+2113qheF2LomnhCq0ArSkwOjeUAfLCCy+wynMOKdtMWWXav8p60nVGguu7VrfVoi66JikbR1kIyk5QZoIypJSdxgq3OZdZm3r//fd7hpmynzT9S9kdOk90TLS4i47Fu+++S71ApCTaj3AxnkgsjCeQyujLJgb6soillCk4paLLqkGk1Tpffvllrwc1aNAgT+3XCaWLlxrra665xusR6YRRDS9d7C644IJIjShqdMWuM6V6K1rhVlONVA9Hxyeoi6MLl1abVKdKx0e/U65cubA3HcgxdYx0Dfrf//7n54He35oiuXLlykitoaB+kT60wIhW2dYAW+dGcP5ET21F1mggp5pQWjBBCylIxo7VkUceaeedd579+OOPPh3pgQce8NpdBx98sE9BYnpqbDu0WrhCtdA05VQLJahel6Z8aQCh46DPOib33nuvB5hYyAKpiPYjfIwnEgfjCaQy+rKJgb4sYi0lMmijTxzV51KH9a233rJzzjnHV80Tdaj0obtLl19++S41unSCBXVBkHUZBwUffvihF+hXJ0p3u5944glr0KCBZx3oTp7u9OmuXuHChb1zCyQLDdRUGF7Xky+//NLq16/vj2shixUrVnhWjgZuwXVLRf9V5H/YsGGRv8HgOudUL/DGG2/0ely6ux09YIvevxp8L1682LOeyHjKHQpuqE3WuXHGGWdE2mW1AR9//LEHNYKObTTaZaQa2o9wMZ4IH+MJ4F/0ZRMHfVnESkqcncFFqH///l4YW99Xr17dTxZNPxLd6daHOrGaLrBu3bp0f4MTJ2eCBkKfdXdJ+/iee+6xm266ybp27eo/UwFz7X+l/OvOd1DYX9kfQF43f/58fy8r60bXk9mzZ9vFF1/s1yW55ZZbbO3atV7gX427pq2qE6Ui/wceeGC6v8XgOudUsF+dqQkTJvgUpGBVbQkGf6IsgwMOOMC/pkMbG9H3hbX/lRWoKdqaAqagR9Auq1PbrFkzz3x69tlnfWXbaLTLSBW0H4mB8UT4GE8A/6IvGx76ssgtKTO/RhkEunP68MMP24knnujp57rL8dxzz/kKq3pcHSrVh9LKn8FFDDmjC5amVagxOPXUU61mzZq+WqEGDnXq1PGOq2q0aLpe3bp1/Y63LlRt27b1i5myQ5QtAuR1GjCo8/TOO+/YtGnTfFqR7mhrkKfMDjXkWmlV0/Fat27t9aE0yFa9uxEjRvjfIPMpttQWaP9fd911/v2FF16YLvtAd7X/+OMPO+644/x79n/ORWduaGq2pgsr0KSsAr3fNS3s5ptv9vMhGHjrPNHqt8EUPiDV0H4kDsYT4WA8AWSOvmz80ZdFbtonleq0qKFWsX5Rh/bMM8/0jpU6UzpxVA9EWQjU6IqNAQMGeKe1RIkS9ueff3oRcw0UdBdPFzIdj/fff98/N2/e3Be40HQkTdtbs2aNNzjUxkGy0ABBd1SbNGni9eeU2aTrka4xAwcO9IZenavx48f7QE/Xn3333dcuuugiataF0LHVcdGiL1OnTrUxY8b4z2gPci7o0GoaqrLOlAnYpk0bf0wL5yjbSYGmW2+9NVLbUR9BXU3aZaQi2o/EwXgi/hhPAHtGXza+6MsiNyVljntmZXU1xUsnxXfffRd5TFPFmjZt6vWhlHauOxzRf4MTJ/t0F/u1117zfap9q6lG1apV84LYuqukIuWlS5e2Dz74wA4//HA75phjPNOjZMmSXrNLv0dnCsmkYsWKPhVy48aNfvdUgzm9x1W7TvWjtPqzGm/9TNk3miaj6aoaVOvuN4Pr3O/YKjtNWWoaAOp4qH7j008/7ccOsWuXtY+1sIWynLSKttplLaKgNlrtsYJQmkKsjCkNLILOcNCxBVIN7Uc4GE+Ej/EEsHfoy+Y++rKIh6QL0Ea/6bVggi5Ooka8WLFi3qDPnTs38nzd5dDKt7rrrRVYJVj9FtmjotgqQq4sDk07UhaHpiJp1cKg7ooyD3777Tcvbq4GRYMH3Q1fsmSJT89ToX8gGa5H0dSIqzEvU6aMryqs+mka7GmQrfpp6kTdfffdu/wd6hPFr2OrLDUtNqLjpGwDDfaQc0Gbqsy/RYsWeTBJWQVa1EjnwMiRI+29997zzm+QfTB69Gi76qqrIn+DumlIJbQf4WI8ET7GE0DW0JfNXfRlEQ/50jK7PZwE9UB0h1UXJ9Vc0QVKBZu///57LyCvi1TDhg3tqKOO8g6Wfk9Fm/W7rKSXM48++qh3jHQHSVMrVJclWMH2wQcf9MUr+vbtG3m+OrGalqTpSKrLomlLyhIBkul6pPe2ppiqFp0yPfS9pr1oURcNqnWuaLCh9//06dP9M4O68OoLakVodbI0RRI5E509puwCLZaglYTVVjRq1Mgf//33333Fc50j3bt399WIozuwTM9GqqH9CBfjifAxngCyj75sbNGXRTwlVYA2oJofmg6jTtT69ev9zusVV1zh077mzZvnnS3VCtH0F9Uv0smluxzRHTJknbILVIerSpUqXn+rQoUK6aYBqCOlKWDKPhAV7FftKA0oNPDQBa58+fIhvgIg9g25ptd9+OGHtnTpUm/Qzz33XH9cDbvuumpgrSkwP/zwg9WoUcPvflOfKFyaHqlrE2JHg2sFLMaOHetT7jRFVQOHgIIfaqNXr17tU1rVPgCpiPYjcTCeCAfjCSDn6MvGHn1ZxEPSBWinTJliffr08U6T7hjNmTPHzj77bO8oXXLJJX6HVXe0dedVdzKUjq5OLHc1YkPTvbSKsGqxqBOru9e6A64PHQ89PmPGDK+jpg9RR0pTwqgRhWSjwZqmtmiQrRp1qo+mVYS12rBW2f7ll198kK3BtQYa48aN8+sTg2skE3ViNRXs9ttv9ymq6tg+9dRTnuk0ePDgyPM0TfWxxx7zRXbIPEOqo/0IF+OJcDGeAJBI6MsiXvJ8gDbjXeqXXnrJa3/oLrc6raoNopUMtepqv379PPW8QYMGdsIJJ0R+h85s7DtVWr1Wd5U0qFBxbK3AetJJJ3lmwd9//23bt2+3b7/91ut66fFKlSqFvdlAjqgh7tixY2Qqke6eqi6g6g7pDqoadWVCaRCtwVvbtm19AQudC1999ZXXV1NDTuYNko0y0O666y674IILPKih+o16TNOzVbMxekGdANODkUpoP8LHeCLxMJ4AkCjoyyJe8vwt3qAzpfRydZSCx3Q3VXWLVDxeJ43qRGmlT9WIUoMe3aGiMxVb6kipPpRWFtYiFupcnXzyyZELle46iaYnAclS60mDhOiBgaYV6S7q559/7nWJlA2lDJt69er5czXQUDaOFrDQoEJoyJHXZRYgOu+886xw4cJ28803+89VF02PieoEXnzxxd7BjcZ5gFRB+5EYGE8kHsYTAMJAXxZhyrMB2uiO6Pjx423o0KE+/UUZCMok2LRpk02dOtWuu+46K1WqlNeKatKkibVs2dJatWoV9uanRKdK04zUqVJ2R61atbxTy4UKyUjXnNq1a/vgTCt5avqpBtJnnHGGvfnmm56Bc9FFF3nBeE2F0WBPNQQ1XTUa5wfyuqBD++WXX/pK22p/RRl/yi7TAFvUNqtju3nzZl9wh8w/pCraj3AxnkhsjCcAxBt9WYQpz5c40J0KTf1SY92hQ4fI4x9//LGnnyv7QNNiNBVJjblqgqgTTKZBfKcnVaxY0afjsaIqkk10vTlleOhao2kvWthC01VXrlzp15qgcVf2k56jDKkhQ4aQcYM8T1N+leVXpkwZ75iqJuOpp57q2QTdunXzLL/A66+/7nUF9biCTlpYR+eHzgM6tkg1tB+Jg/FEYmM8ASA30ZdFoshTAVpN6fr555+9zpCmGbVr184XSPjkk088s0Cr5QXTXbR4gorKr1q1yhdWENXuUs0iakSFU+hf0/NUUy2osQYkk+XLl1u5cuV8MDdq1CgfeCvjQ6tqawVuTYdU46+VoNeuXeuNO6s9I6+77bbbfPEctc1qf7WSvOppKpNA7bMW0+natWukY6sFjs466yzvBGuhBdV0FNplpDLaj/hiPJE3MZ4AkBvoyyKR5Jlene6WapqXCsH/9NNP3qnSnWzdwe7SpYtNnjzZPv30U7+TLZoiptVXr732Wq/TFXRm1enlxIn/9CRlgyj9X50qIBloYBzQlFNl1egadMopp1j37t39TqoWFfnuu+88+0l3V3XtUb06TWMNrkcMrpFXde7c2RYuXOjBCy2UcOmll3q9xhYtWvi1XkEO1XNUZtqff/4Z6bwqI2HgwIHpstRol5FKaD/Cw3gi72I8ASDW6Msi0eSJDFqdKLpToelcSjuPfvM//fTT3qHVaqu6o606RY0aNfLOU0ZMQwrX1q1bvbg2kNdFZy1psKy7rspwOvroo/0urBYYUSbOU0895c+98847d5mOx/UIeZk6pNu2bfMO6wEHHBB5/Mcff/SOrIJOL7/8smf9qUZX+/btrWbNmr4S/ZYtW3xBBaYHIxXRfoSH8URyYDwBIBboyyIRJXyAVlO9dBKoM6W0ctXfCjpLSjnXNCV1XAcMGOCdKt3ZVqdKq3xyogDITYMHD7YxY8b4XVdl07z33nu+oMhdd91lDRs29EG2Bn1r1qzx5zIdD8lAU71Wr17t7W90NmAQdNICRlp5e/bs2fb+++97RpoW3lHbXbp0aT8nmB6MVEf7EV+MJwAAAfqySFT/tzJBAtNJoVVrNb1Lgs7UNddc43W5+vbt66uuXn/99d6BVYdLnV11ejUVDAByg+rSvfvuu/bAAw9Y8+bN/bHLLrvMaxT17t3bP7TSszI9pk2b5tlRQF63ZMkS++KLL6xTp07222+/WcmSJXeZZq1FXFSPS+23MgS1gIJWQ9diSAqM6PnRiyMBqYb2I/4YTwAAhL4sElnCvqN0F0OLIahGlGqARJ8ESifXHQ/duVBtLn0o40Dp6bfeequVKFHCjjvuuLBfAoAkpikxukbpLmrwfaFChTxLR3WJlHmj65auX/oQpsAgr6tQoYK9+OKL1qtXL38vq3OrxY0CQSaBss6UjaYsQHVqVccxyDBQ+06HFqmM9iN+GE8AAKLRl0UiS9jVBdSBUmFmFe6fPn26PxacBFptVbW51JESdZ5UzFn1pIoVK+Ynm56rDhgA5FRmlWB0t1U0ZVI0uNYgW7TSswrOazELrQgqDK6RLLSy/COPPOLTwtTB1Qr0AXVcdb7oo0iRIpEOb/T0LxY2Qiqh/QgX4wkAQEb0ZZGoEvadpRNC04uOPfZY++GHH3yl1cD++++fbvXOr776yo444ggv5h/8rnBXA0BO6Q5p0CCrSLw+1IhrsNexY0cvIK8snGCQreuPsm6eeOIJb7yHDRvmP2NwjWTr2Goa8DvvvJOuYxtkHShjbcOGDVa5cuWwNxUIDe1H+BhPAAAyQ18WiShhexw6KVQfqkuXLr7CnqZ9qS6Uan5EU8aB6kPpzsYxxxwT+V0AyCk10MEd0scee8w+/fRTb7w1kNZq0KodqNpFI0aMsG+++canzMyYMcMXdalfv761bNnSB4RAMqpdu7YvuKOVbUW1uoIsgxtvvNH+/vtvO//880PeSiActB+JgfEEAGB36Msi0SRsgDZQrVo1u/POO32ql04Qda4aNGhgf/31ly1atMizC5SRoOLN6ggrW4GUcwCxEAzONLgePXq016ZTJo5W9rz//vvtqquush49enjjrp/ruqRBdpARpYVHVGMwyKJisIdkzD4IOrZqe5UVqHNDgShlJCjzj+nZSEW0H4mF8QQAIDP0ZZFI8qVlVhwrwaiT9MEHH3inSrQCq2pEaRqSpidpMQXdHWclPQCxpgGb6tB169bNF28JjBs3zu644w4bNGiQtWrVyh/T4HvlypVer+jZZ5+1sWPH2ksvvWRHHXVUiK8AyH2aGqzzZMuWLZ6Z9uabb9IuI+XRfiQWxhMAgN2hL4tEkCfeabqTcfrpp3vxfq3CqqwCdaRq1qxpVatWTbciKwDE0ubNm23evHnpri8a5J111ln20Ucf2dtvv23NmjXzn2s16FtuucWnqGqBEWVCMbhGqmQfKNg0dOhQXwE9WFiHdhmpjPYjsTCeAADsDn1ZJII89W7Tqqr6yEidXU4cALkhWLRl2bJlXqNO9QM1iNPHvvvu648VLVrUn6uaRQMGDLCtW7d6Zk704iNAsqtTp44HlTQVmw4tQPuRqBhPAAAyQ18WYctzxZUyq8hAjSgAOfH66697Jk1mKlasaHXr1rXHH3/cpk6d6tNQg8woTV9VzcBoGmQr64nBNVKROrRqp+nQIlXQfuRNjCcAAJmhL4sw5YkatACQW37++WevAXjxxRf7yp1ly5aN/CxYJESXySuvvNJX2G7RooUPnrW69tq1a70+kRpwPYdFXAAgddB+AAAAIFYI0AJIeSoK37NnTx9oa5CtLKZA9MB58ODBNmfOHJ/yokVFtMiLBtes7AkAqYn2AwAAALFAgBYA/v8g+7rrrrPWrVunG2QHWVCyfPlymz9/frrVuKlPBACpjfYDAAAAOUWAFgD+v1mzZnkmVMZBti6TWolbK2xrkZexY8dG6tcxLRUAQPsBAACAnCBACwCZZEJpumqXLl3ssMMO88H1rbfe6lNRtSBMwYIFw95MAECCof0AAABAdhGgBYA9TFdt0KCBDRkyxLZu3WpvvPGGD66ZlgoAyAztBwAAALKDAC0A7GGQvW7dOjvyyCNt3LhxDK4BAP+J9gMAAABZRYAWAHZj5syZNnToUHvmmWd8UM3gGgCwN2g/AAAAkBUEaAFgD3SJ1EIuDK4BAFlB+wEAAIC9RYAWAPZykA0AQFbQfgAAAGBvEKAFAAAAAAAAgJDkD+sfAwAAAAAAAECqI0ALAAAAAAAAACEhQAsAAAAAAAAAISFACwAAAAAAAAAhIUALAAAAAAAAACEhQAsAAAAAAAAAISFACwAAAAAAAAAhIUALAAAAAAAAACEhQAsAAAAAAAAAISFACwAAAAAAAAAhIUALAAAAAAAAACEhQAsAAAAAAAAAISFACwAAAAAAAAAhIUALAAAAAAAAACEhQAsAAAAAAAAAISFACwAAAAAAAAAhIUALAAAAAAAAAKkeoH3yySetc+fOe3zO2rVr7YYbbrA6depY3bp17d5777XNmzfHbRsBAACAzNCXBQAAQHbtYwngxRdftMGDB1vt2rX3+LwePXp4J/bZZ5+1DRs22B133GGbNm2yBx98MG7bCgAAAESjLwsAAIA8G6D99ddf7Z577rHp06dbhQoV9vjcb775xmbMmGETJ060SpUq+WN9+vSx7t272/XXX2+lSpWK01YDAAAA9GUBAACQBCUOfvzxRytYsKCNHz/ejj/++D0+d9asWXbooYdGOrSiqWH58uWzr776Kg5bCwAAAPyLviwAAADyfAZts2bN/GNvMxTKlCmT7rFChQpZiRIlbNWqVbm0hQAAAEDm6MsCAAAgaWrQ7g3V61InNqPChQvb1q1bs/U3NdUsLS3NMx8AAACQWLZv3+4ZprVq1bK8jr4sAABAatmehb5sngnQFilSxLZt27bL4+rQFitWLFt/Ux1afezcudNSnfbDjh07rECBAv7mQfxxDMLHMQgfxyB8HIPwcQzS74tkQV82d3HehI9jED6OQfg4BuHjGISPY5C9vmyeCdCWLl3aPvzww3SPqZO7bt06K1myZLb+ZpBtUL16dUt1WkF4wYIFXhctu4ME5AzHIHwcg/BxDMLHMQgfx+Bfc+bMsWRBXzZ3cd6Ej2MQPo5B+DgG4eMYhI9jkL2+bJ4J0NapU8cGDhxoS5cutSOOOMIf00q4cuKJJ+bobyuqn+qCfaDP7I9wcAzCxzEIH8cgfByD8HEMkhN92dzFeRM+jkH4OAbh4xiEj2MQPo5B9uS3BKV06DVr1tiWLVv8e62Me8IJJ1ivXr3su+++s2nTptndd99t7dq1s1KlSoW9uQAAAEAEfVkAAADk+QCtVrNt1KiRTZw40b9X3YrHHnvMypYta126dLGePXta48aNrXfv3mFvKgAAAJAOfVkAAADkuRIH/fv3T/e9Oq/z589P99jBBx9sQ4cOjfOWAQAAAHtGXxYAAABJl0ELAAAAAAAAAMmOAC0AAAAAAAAAhIQALQAAAAAAAACEhAAtAAAAAAAAAISEAC3w/9q7E3CrxvaP43fzQEmSoYFEM0KDIkUkCplFqGT2NhhSKBmLBhUqSUKSoUEZEyVpFoWUoUFJSKNmtf/X737/a9unwds5Z5+z9tn7+7muc3XO3vvs1llrr/Xcz7Pu534AAAAAAACAkDBACwAAAAAAAAAhYYAWAAAAAAAAAELCAC0AAAAAAAAAhIQBWgAAAAAJY968edasWTOrXr26XX311fbzzz/v8Zq//vrLOnfubLVr17YzzzzT3njjjehzq1atsltuucVq1aplZ5xxhj377LPR59asWWM33nijnXTSSdaoUSObMmVKtv1dAAAA+8IALQAAAICEsG3bNrv99tutTZs2NmvWLKtbt661b99+j9c98cQTtmLFCvvwww/t5ZdftldeecVmz57tz913331WunRpmzp1qo0YMcLGjh1r48eP9+e6dOliZcqUsZkzZ9oDDzxgd911l61evTrb/04AAIBYDNACAAAASAgzZsywYsWKWdOmTS1//vx266232vLly+3HH39M87qJEyf6wK1eqwHXyy67zD777DPbtWuX/54yaPWvBmobNmxoX331lW3atMkmTZpkd9xxhz+n7NpTTjnFB3kBAADCxAAtAAAAgISwZMkSO+aYY6I/58mTxwdgFy9enOZ1GogtVKhQ9OfcuXPbb7/95v8OGjTISpQo4Y/v2LHDPv/8c6tQoYItW7bMihQpYsWLF4/+Xrly5fz/BAAACBMDtAAAAAASwubNm61gwYJpHtNA7JYtW9I81qBBA+vfv79t2LDBM2xVxkCDsbF27txpnTp1snz58tnFF1/s7x07qCv6v3Z/b2S+DnBAx6ZGjRppHqMOMAAAe2KAFgAAAEBC0ADq1q1b0zymAdQDDjggzWOqM1u4cGEf4FMd2QsuuMB/DmgwVuURlB07ZMgQL2mwt/fWz7G/h/jUARaVlbjuuuts48aNaX6POsAAAOyJAVoAAAAACUHlDZYuXZomC1bZmypFEEsDeg899JDXrFXmpgYBy5Yt68+tX7/eWrRo4eUOhg8fHi1pcNRRR/nr1q1bF30fDeDu/t6pLrN1gEULtN15550+yBuLOsDZl8Wsmw8a/FYGc/369W3MmDHR51atWuVZzHquXr16XhYEABAuBmgBAAAAJAQNNP35559esmD79u02cOBAH3gtX758mtdpQOmpp57yAdz58+fb6NGjfYBKOnToYEceeaQ9++yzabJjDzzwQB+M0u8pS1SDiXPmzLFzzjkn2//OZK4DLFWrVrUPPvjABwZjUQc4+7KY+/Tp49nn+pw/88wz1qNHD1u4cKE/p9Ifxx13nA/Gv/nmm/bqq6/a9OnTs/3vBAD8gwFaAAAAAAlBNWGfe+45H2jSYO20adOsb9++/lyTJk1s3Lhx/n3Hjh19sK9mzZp2991327333usDTsry1KJgqmuq7EDVOdVX165d/fcee+wx++OPP+y0006zRx991AexDj300FD/5mSsA3zwwQd7huze3ps6wNmTxfzOO+/472l/H3/88f5ewfkzePBgz3DOmzevZ5RrsF03MAAA4ckb4v8NAAAAAGlUq1bNRo0atcfj7777bvR7Daq+8MILaQb+vvvuOzv22GNt0aJF+3zvQw45xAYMGJAFW52adYBVZkJ1gJXlrDrA48ePT/d7Uwc4fVnM+oz/ryxmDZorEz32PZSprNITEgyea0D366+/tksvvdQHcQEA4SGDFgAAAAAQtzrA+0Id4OzJYg5eFzt4q/fbfXBcpQ1UHkELto0cOTJL/yYAwL9jgBYAAABAjpYrVy4fjNK/CL8O8L5QBzj+WczKPlYWsxYEUxazfg4Gd2PfY2+ZygUKFLCjjz7arrnmGps8eXKW/k0AgH/HAC0AAACA/bIzsssSdUCrSpUqe9Q3TRSJut+yog7w/0Id4KzPYj7ooIN8IbbY9wgylSORiF100UXRBcNEA/FavA0AEB5q0AIAAADYL3ly5bbOS4bb4i2/hb0pOcYxhQ6z7uVaWKrUAY5VunTpPWoCUwc4fVnM559/vi/qta8sZg2s3n///fbtt996FnOHDh2ig+kqf9CrVy8fqNWiYcOGDfMs84oVK9ozzzzjz61YscJGjBjhA+cAgPAwQAsAAABgv2lwduGWX8LeDCBpBVnMDz74oGfIVq5cOU0W880332wXXnihZzF36tTJs5hLlCjhWcyq8yt33nmnPfLII9awYUPPLO/cubO/jzzwwAP+vvXr17eiRYtau3btvPQEACA8DNACAAAAADKFOsCJlcWserPdu3ff63trULZ3795Zst0AgIxhgBYAAAAAcgjVs1WpiUStA5yoEnW/AQAgDNACAAAAQA5BHeDUqAOcEWQxA0DOxQAtAAAAAOQg1AEO185dEcuTO/EGQRM+izlB9xsAJAIGaAEAAAAA2E8aZOzy8Spbsm5H2JuSY5Qrls8eaXh42JsBAAmLAVoAAAAAANJBg7OLVm8LezOQhebNm2cPPvigLV261DOTe/ToYWXLlk3zmh07dtjDDz9sH330kZeWOO+88/xLdu7c6YuxjR492iKRiF144YXWuXNny507t61atcq6detmc+fOtYIFC9qVV15pt99+e0h/KYBEQJV0AAAAAACA/7dt2zYfMG3Tpo3NmjXL6tata+3bt9/jdSNGjLCVK1faJ598Yu+++65Nnz7dpk6d6s8NHTrUZs+ebe+99569//77NmPGDBs7dqw/d99991np0qX9tXoPPT5+/Phs/zsBJA4GaAEAAAAAAP6fBlOLFStmTZs2tfz589utt95qy5cvtx9//DHN65YtW+aZsrt27fKflR2bL18+//7NN9+0jh07WvHixf3rueees9NOO81fq/e85ZZb/F8N1DZs2NC++uqrUP5WAImBAVoAAAAAAID/t2TJEjvmmGOiP+fJk8fKlCljixcvTvO6yy+/3BYtWmQ1a9a0OnXqWLly5fzfzZs3++CtyiOce+65dsYZZ9hbb71lJUuW9EHcQYMGWYkSJaJlEj7//HOrUKFCtv+dABIHA7QAAAAAAAD/TwOsqg0bq1ChQrZly5Y0j23fvt0uuOACz7j9+OOPfQB3woQJtnHjRn9etWlff/11L2OgEghjxoxJ8/vKvu3UqZNn3V588cXZ8JcBSFQM0AIAAAAAAMQMxm7dujXNYxqcPeCAA9I8pkW/VAbhoIMO8lIFN9xwg02ePDla5uCmm27yUgl67qqrrrJJkyalGQRW6QRl6w4ZMsTLHQBIXQzQAgAAAAAA/D+VN1B5gthM159//tlLGMRatWqVlygI5M2b18shHHzwwVa0aNFoJm3wHpFIxL9fv369tWjRwssdDB8+3GvUAkhtDNACAAAAAAD8v9q1a9uff/5pY8eO9TIGAwcOtLJly1r58uXTvK5evXrWr18/H4j9448/bNiwYVarVi3LlSuXXXjhhTZ06FAfjP3ll19s5MiR1qhRI/+9Dh062JFHHmnPPvusFS5cOKS/EkAiYYAWAAAAAADg/6n+7HPPPWevvPKKD9ZOmzbN+vbt6881adLExo0b598/9NBDvvDXOeec4zVk9drzzz/fn7v33nutYsWK/vpLL73ULrroIh+0/f77731RsClTpliNGjXspJNO8q+uXbuG+jcDCFfekP9/AAAAAACAhFKtWjUbNWrUHo9rsa+A6sv26tUrTV3Z7777zr9XTdkHHnjAv2JVqFDBFi1alKXbDiDnIYMWAAAAAAAAAELCAC0AAAAAAEAmqfZsoUKF/F8ASA8GaJPQvHnzrFmzZla9enW7+uqrfbXJ3WmlyS5dutipp55qderU8WkZu3btiq5Eecstt3hx8zPOOMMLlwcmTZpkVatWjdbJ0df8+fOz9e8DAAAAAKSunbsilog0OFulShX/NxEl6n4DQA3apLNt2za7/fbbrVOnTr5C5ODBg619+/Y2evToNK8bMWKErVy50j755BPbunWrXXPNNVakSBEffL3vvvvsmGOOsf79+9vvv/9urVq18hUrL7jgAlu4cKE1b958jzo6AAAAAABkhzy5c1mXj1fZknU7wt6UHKNcsXz2SMPDw94MAPvAAG2SmTFjhhcqb9q0qf9866232ksvvWQ//vijHXvssdHXLVu2zHbu3BnNms2dO7fly5fPf1Yxc2XQ6t/SpUtbw4YN7auvvooO0NarVy+0vw8AAAAAAA3OLlq9LezNAIC4oMRBklmyZIlnvwby5MljZcqUscWLF6d53eWXX+4rR9asWdNLHJQrV87/1UDtoEGDrESJEtFSCJ9//rmvNCkaoH3//fft9NNPt3PPPXevq1oCAAAAAAAA2D8M0CaZzZs3W8GCBdM8pvo3W7ZsSfPY9u3bPSNWGbcff/yxD+BOmDAhzWuUYatSCcqsvfjiiz279vDDD/ffU2mEHj162BNPPGEzZ87Mlr8NAAAAAAAASDYM0CYZDcaqpmwsDc4ecMABaR7r3Lmzl0E46KCDvIzBDTfcYJMnT04z0KvyCMrIHTJkiJc7UHatyiVoATL9rAXCgsFaAAAAAAAAAOnHAG2SUXmDpUuXpsmC/fnnn72EQaxVq1Z5+YJA3rx5vRyCrF+/3lq0aOEDssOHD7fixYv741owrFevXhaJRNJk4hYoUCAb/jIAAAAAAAAg+TBAm2Rq165tf/75p40dO9YHTwcOHGhly5a18uXLp3mdFvrq16+fbdy40f744w8bNmyY1apVy5/r0KGDHXnkkfbss89a4cKFo7+jbNvRo0d7Fq3KHcyZM8fee++96IJkAAAAAAAAANKHAdoko/qzzz33nL3yyis+WDtt2jTr27evP9ekSRMbN26cf//QQw9ZyZIl7ZxzzvH6snrt+eefbz/++KMvCjZlyhSrUaOGlzHQV9euXT1TVguIaVD2lFNOsfvuu88ee+yx6AJiAAAAAAAAANInbzpfjxygWrVqNmrUqD0ef/fdd6PfFytWzMsVxNac/e677+zYY4+1RYsW7fO9TzjhBHvjjTeyYKsBAAAAAACA1EMGLQAAAAAAAACEhAFauFy5clmhQoX8XwAAAAAAAADZgxIH2WxnZJflyZV44+IanK1SpYolqkTdbwAAAAAAAEBmMECbzTTI2HnJcFu85bewNyXHOKbQYda9XIuwNwMAAAAAAACIOwZoQ6DB2YVbfgl7MwAAAAAAAACELNQ547t27bL+/ftbvXr1rHr16nbjjTfa8uXL9/n6P//80+666y479dRTrXbt2tahQwf77TcyUQEAAJD9iGUBAACQ4wdoBwwYYCNGjLBHHnnERo4c6UFumzZtbPv27Xt9ffv27W3lypX24osv+pe+v/3227N9uwEAAABiWQAAAOToAVoFrkOHDrW2bdtagwYNrFKlSvbUU0/ZqlWrbMKECXu8fsOGDTZr1izPTKhcubIvaHXTTTfZ119/bevWrQvlbwD2Zd68edasWTPPprn66qvt559/3uM1TZo0sZNOOin6VbNmTbvzzjv3+ly1atXs3HPPjf7uCy+8YKeffrr/jjJxtm7dmq1/HwAAqY5YFgAAADl+gHbhwoW2adMmq1OnTvSxokWLerA6e/bsPV5fsGBBO+CAA2zs2LH2119/+dfbb79t5cqV898DEsW2bds8G0YZNOqI1a1b1zNmdvfuu+/al19+6V9Tpkyxww8/3Fq0aLHP5zp16uTPvffee/baa6/51+TJk23t2rX2/PPPZ/vfCQBAKiOWBQAAQI4foFV2gRxxxBFpHi9ZsmT0uVj58+e3Hj16+IBXjRo1PHNQWYoamMqdO9RKDUAaM2bMsGLFilnTpk39c3vrrbd6Pboff/xxn7/Ts2dP/0yffPLJe31OterOPPNM//nNN9+0O+64w8qUKeMdvSeffNIuvvjiLP2bUjGL+d8yldWp7ty5s9cP1HHR9FYAQGohlgUAAEC85LWQbNmyJRqsxipQoICtX79+j9dHIhH77rvvfBBFmYk7d+70aWS33XabZxIeeOCBGd4WvVd2yZMnT7b9X8kmO49TZvz000+eDRO7vRpM1QCtHt/b65Uxq4ya33//3X8v+N3guQ8//DD6mM4DTaW84IILfLERlT7o2LFjjtk/2ZnFrP1yzjnn2JAhQzyLWYPbscaNGxf9fuPGjXbJJZdY8+bNfV++8847fm159dVX7eCDD7Z27drZc88954Pj6mCvWLHCs5k1WHvDDTfYIYccYmeffXYIf21yCT7HsecBshfHIHwcg5yBWBZhHSeOQcZxDMLHMQhfsscWxFHh4xjksAFaTfMK6ncF3wcDK4UKFdrj9e+//74NHz7cJk2aFA1gBw0a5Nlrb731lrVs2TJD26HFHDQwkx3UiBQpUiRb/q9ktHnz5hxxcquOnI517OcqX758Xopgb581DR5qsDXo4MX+ncFzefPmjf6uatiNGTPGevXq5b+jQchnnnnGa9rhv6ZNm+bn2hlnnOHXFGXQvvTSS56pdMwxx+z1dzToqk6zsph1DF5//XVr3bq1HXTQQX6deOCBB/y9dBwmTpxoTzzxhB9nPX/RRRfZqFGjPKMW//jmm298Pyl7uWLFita1a1crXbp0mtdcddVVaTLNduzYYSVKlLA33njDzwNd9zVwoX2vciH33XeftxkaGO/evbtnoinzrHHjxvaf//zHzxVkjvZ1TrrmJiOOwT90/U3U7FJiWaRXPM5pjkHmcAzCxzEIX7LHF8RR4eMYZCyWDa0nG0wHU8Zg2bJlo4/rZ3XkdzdnzhzPPozNLtDAiB5btmxZhrdDO4qLe85QuHBhywn0udRFKPZzpUGn4sWL7/FZU6fu448/9izN4O/Tv/qKfS729zTYe/3119uxxx7rPyt7U5mdsVPzU50G/LR/YvebrjO6vpx44ol7vF6Zyh999FE0i1n7/4cffvCM2GuvvTZNprIGxXWRjT2eev2vv/7KtWS3Rll1k2OzmDVAu3sWszLE95bFrH366aef+jFRCYkgi1kD58piVmkPZampDrNKT7Rq1co++eQTu/TSS0P4a5NLkJESXIuQ/TgG/0jUwVkhlkV6pfr5nAg4BuHjGIQv2Y8BcVT4OAYZi2VDG6DVSrcKUGfOnBkNapUZuGDBguhCSbG0SJI68ur0q1MejMZrmvGFF16YqW1hekTOkFOOkwYGtehHsL0arFUGoR7f/W9QRqeyBXU+6PMseo2+Yp+LdfTRR/uiJMF7acpk8Hv4Lw3YKXspdp/oZ10/9rafXnnlFbvsssu8TIE61nqNrkcqgaDagBqU1RRUDTIqS1PZTs8++6wPEmoa6+jRo+3vv//mGMTQAjmqxRxcn7X/Xn75ZVuyZEn05sLu+vTpY7Vq1fIsZu1LZSVrMPaoo46K1mPWsdVzDz30kH/2dWzWrFnjNzQ0iMsxyLxgHwbXImQ/jkHOQCyL9OI4hY9jED6OQfiS/RgQR4WPY5AxoaUlqFOt4FXTtJUlqJVwO3To4MFro0aNfFDrjz/+iC7Ko8V+RHUk9Vp9KWNQAa4yroBEoWnuyrhU5p8GjQYOHOgdt/Lly+/x2vnz5/siVnuzr+c0nV4Zhb/99psPTA0dOtTPGViawdjg2hFbK1CLqu1Ox0i1ZDVAG0uZysqe1TVJ2bIqd6BpqaJp9roTqP2uxcN0fcpM7cBkpIHY2HISaphVi3nx4sV7fX1Qb1kD4AHValRWrcp8nHbaaTZgwABffCc4PmpH2rZt65nOpUqVii6kBwDZgVgWAAAA8RLqvDF1rDUootqOmtKqDrxWTVfHW9OFtXq6Bk5EnXINSiljStO7NZ1Vr9NjTOtCIlEdOpUcUFamBmtVD7Vv377+XJMmTdIsTLVy5Uo79NBD9/o++3pONeqaNm3qtTs17b5atWpe5gD/0MDg0qVLoz8HWcx7W6Rt7ty5nql83HHH7ZGprDqnse8RZCuvXr3aMzhnzJjhtVI1iLh7pnOqU1ZYbE3GYOA8WFRnd8OGDfP2QFmwAWWi6UaHspjHjx/vWWk6t2Ipq3bq1Kle+7lfv35Z9NcAwN4RywIAACAeQl1NRUHsPffc41+700IyixYtSvOYMhC1mAKQ6DRoqunZu4uttyndunXb53vs6znVMNF0cX3hf2cxn3/++TZ48OB0ZzEHmcqqn6oOdGymsq5D6kzff//99u233/ogLdemzGcxjxw5cp9ZzKIsZu3n2CxbZZ7pRsZNN93ki+UpoxkAsguxLAAAAOIhcVdeAIAQs5j/LVNZC19pQZeaNWva3XffbV26dNlnqYpUldVZzDfffLMvEBY7yEsG2p5Uy1rTqvX5vPrqq/0Y7E7nxEknnRT90ud6b4sOagBKC78FdGwqV66c5ndffPHFLP+bAAAAkBqIZZFKQs2gBfCPXLlyedah/kX4Wcz/lqmsAV1NYUV4WcxVqlTxLDQFUiqnoPff26I8qUwLEd1+++0eiGq/aR+p9qUWtdvXOaFyHQqCdWMi1sSJE+2dd97xYxJQZqAG1WNveAAAAADxQCyLVEMGLVLOzsguS0QanNWgk/5NRIm635CaWcy33nqrny+NGzf2uo9aSOyKK67Ixr8w8alGcrFixXwfajEj7bPly5fbjz/+uM/fUU1fZR2cfPLJ0ce0GKEe330RIy1wRO1lAAAAZAViWaQaMmiRcvLkym2dlwy3xVt+C3tTcoxjCh1m3cslf3YiWcw5J4tZQVrXrl39C3u3ZMkSLzURWyuzTJkytnjxYjv22GP3eP1PP/3kx0aD56tWrYo+rgXx2rRp44/98ssvabIOVMZCg+fKYtbAu6aT6dgAAAAAmUEsi1TDAC1SkgZnF2755+KM7LVzV8Ty5M6VsFnMiSpR9xsSkwJNZTLv/hnXYm17M2zYMF+N/uCDD44GtVq8bdOmTXb55Zfb008/neb1hQsXtlq1ank9YE0n0+JtypqOXcQNAAAAyAhiWaQaBmgBZDsNMnb5eJUtWbcj7E3JMcoVy2ePNDzckh1ZzPGj/bh169Y0jymgPeCAA/Z4rRZZUwA7cuTI6GOqIdynTx8vU7E3sYssaIG2m266yesCE9QCAAAgs4hlkWoYoAUQCg3OLlq9LezNSFmJmo1LFnP8aErYmDFjoj/v3LnTV74tV67cHq+dO3eulShRwhdKULZCUPdr9erVXt83WKghEonYt99+a+PHj7f+/fvbxRdf7FPNgsC4QIEC2fb3AQAAIHkRyyLVMEALACmILObkz2LW4mzKHBg7dqydf/75vvJt2bJlrXz58nu8dv78+Va9evU0j6kOl6aDBTQtTHW7evTo4T8vWLDAa4M9/vjjvviC3l8LtgEAAACZRSyLVMMALQCkKLKYk5tqdqmO1oMPPuiLI1SuXNn69u0bDVhVb+vCCy/0n1euXGmHHnpout7/0Ucf9fetX7++L9pw1VVXEdQCAAAgLohlkWoYoAUAIElVq1bNRo0atcfjWuE2Vrdu3f7ne+1ej0vTyHZfbAEAAACIF2JZpJLcYW8AAAAAAAAAAKQqBmgBAEBUrly5fLE2/QsAAADkJMSyyKkocQAAQAh27or4Ym2JRgFtlSpVLFEl6n4DAABIJYkakxHLIqdigBYAgBAoMOvy8SpfrA37p1yxfPZIw8PD3gwAAICURyybfsSy+DcM0AIAEBIFtItWbwt7MwAAAIB0I5YF4ocatAAAAAAAAAAQEgZoAQAAAAAAACAkDNACAAAAAAAAQEgYoAUAAAAAAACAkDBACwAAAAAAAAAhYYAWAAAAAAAAAELCAC0AAAAAAAAAhIQBWgAAAAAAAAAICQO0AAAAAAAAABASBmgBAAAAAAAAIKcM0F522WU2YsQIW79+fdZsEQAAAAAAAACkiHQP0H7zzTf2yCOPWL169axt27Y2adIk27lzZ9ZsHQAAAAAAAAAksXQP0Pbs2dPOOussy5Url02YMMFuu+02H6zt3r27LViwIGu2EgAAAAAAAACSUN70/sIFF1zgX5s3b/bs2Q8++MA+++wze/nll/2rfPnydt1119kVV1yRNVsMAAAAAAAAAKm+SFihQoWsePHiVqxYMStQoIBFIhH/+vHHH+3BBx+0fv36xXdLAQAAAAAAACDVM2jnzJlj7733npc3+PPPP31QNn/+/HbeeefZxRdfbN9//7317dvX3nrrLWvXrl3WbDUAAAAAAAAApOIAbYsWLbz+rAZmq1SpYpdccomXPDjooIP8+TPOOMO++OILmz59elZsLwAAAAAAAACk7gCtBmI1IHvZZZdZpUqV9voaLRpWs2bNeGwfAAAAAAAAACStdA/QTp061fLly2ebNm2KPvbzzz9b2bJloz9fffXV8dtCAAAAAAAAAEhS6V4kbMuWLdaqVSvr3r179LHmzZvbtddea+vXr4/39gEAAAAAAABA0kr3AG3Pnj29vuyyZcv8561bt3o9Wi0e1qdPn6zYRgAAAAAAAABISukeoJ08ebKVKlXKBg0a5D8XLFjQJk6caEceeaRNmjQpK7YRAAAAAAAAAJJSugdo161bZ2XKlLEDDjgg+ljhwoWtdOnS/hwAAAAAAAAAIIsGaLUYmMoZvPfee/bXX3953dmxY8f6Y7ELhQEAAAAAAAAA/l1eSyctEPbAAw/YXXfdleZx1aG9/vrr0/t2AAAAAAAAAJCy0j1Ae9lll9m2bdts4MCBtnr1an/s0EMPtVtuucUuv/zyrNhGAAAAAAAAAEhK6R6glWuuuca/1qxZ4z8XL1483tsFAAAAAAAAAEkvQwO0qju7bNky2759u5c2+Omnn2zz5s02e/Zsu/vuu+O/lQAAAAAAAACQhNI9QPvhhx96/dmdO3fu9XkGaAEAAAAAAABg/+S2dBowYID9/fffduyxx3r27AknnGAlSpTw76+88sr0vh0AAAAAAAAApKx0D9CqtEH16tVt/PjxvjiYsmnff/99H6T99ddfs2YrAQAAAAAAACAJpXuANk+ePFaoUCH/XgO1X3zxhR144IF23HHH2VdffZUV2wgAAAAAAAAASSndNWg1EDtr1ix7++237eSTT7bBgwfbqlWr/LEiRYpkzVYCAAAAAAAAQBJKdwZt+/btLV++fLZx40Y777zzbPPmzfbGG2/4omGNGjXKmq0EAAAAAAAAgCSU7gzaU0891SZMmOCLgh122GH26quv2pgxY6xMmTJ2zTXXZM1WAgAAAAAAAEASSvcA7RVXXGGnnHKK3Xvvvf5ztWrV/AsAAAAAAAAAkMUDtEuXLqXWLAAAAAAAAACEUYP2qquusnnz5nmZgzVr1tiOHTts165d0S8AAAAAAAAAQBZl0L7zzju+MFi7du32eC5Xrly2YMGC9L4lAAAAAAAAAKSkdA/Qrly5cp/PaeEwAAAAAAAAAEAWDdB+/PHHFi8qifDMM8/Ym2++aRs3brSaNWta165drUyZMnt9vcop9O/f38aOHeuv1+Jk999/v1WuXDlu2wQAAADsD2JZAAAAhFKDtlSpUv/6lR4DBgywESNG2COPPGIjR470ILdNmza2ffv2vb6+W7duNnr0aHv88cdt1KhRVrx4cbvxxhs9wAUAAACyE7EsAAAAQsmgve666/b5nGrQvvTSS/v1Pgpchw4danfffbc1aNDAH3vqqaesXr16vgBZ06ZN07x++fLlHsgOGjTIXyOPPvqoNWvWzL755hurU6dOev8UAAAAIEOIZQEAABDaAO2sWbP+dYB2fy1cuNA2bdqUJhgtWrSoValSxWbPnr1HUPv5559bkSJF7Iwzzkjz+k8++SS9fwIAAACQKcSyAAAACG2AVlO4Ym3bts2+/vprmzhxok/X2l+rVq3yf4844og0j5csWTL6XKwlS5Z4PS9lJAwePNh+++03D4A7depk5cuXT++fAQAAAGQYsSwAAABCG6C9/PLL9/r4TTfdZB9++KGde+65+/U+W7Zs8X/z58+f5vECBQrY+vXr93j9X3/9ZcuWLfNaXx07dvSMg4EDB9rVV19t7733nh1yyCGWUTt37rTskidPnmz7v5JNvI4TxyDjOAbh4xiEj2MQvuxst8P8+/Rvsv+tORmxLNKL9iN8HIPwcQzCxzEIX7LHd8Sy2TRA+28mT568368tWLBgtH5X8H2QkVuoUKE9Xp83b14PbFXbK8gy0Pf169e3MWPG+IIMGaHFHLJrYQZdwDS1DRmzefPmTJ/cHIPM4RiEj2MQPo5BchyDRKZYKBX+zv2N03LnTveatv9q69ataWJPUYx54IEHput9iGWRXrQf4eMYhI9jED6OQfiSPcYjls1YLJvuAVrd8Y+lna1pXHPnzk3Xnf9gOtjvv/9uZcuWjT6unytWrLjH6w8//HAPbGOngCkY1lSxFStWWEZpR3FhyRkKFy4c9iakPI5B+DgG4eMYhC/Zj0GQkaK/M9n/1v8l3oOzb775pvXs2dNefvllq1SpUvTxvn372tSpU+2hhx6y2rVr79d7EcsivVL9fE4EHIPwcQzCxzEIX7IfA2LZjMWy6R6gHTdunC8GFolE9niuRYsW+/0+CoqVqTBz5sxoULthwwZbsGDBXt+nZs2a9vfff3u92+OPPz6aAaEVcZs0aWKZQWp+zsBxCh/HIHwcg/BxDMKX7Mcg+Pv0b7L/rdlpypQp1qVLF49j58yZk2aAdtKkSfbLL794ya5XX33VqlWr9j/fj1gW6cVxCh/HIHwcg/BxDMKX7MeAWDZj0j1Ae8cdd+zxmO7+K9Dc34yDoF6XgtdevXpZ8eLFrVSpUp7RoOyCRo0aeWbumjVrPCNA71+jRg2rW7eu3Xvvvfbwww9bsWLFrH///n6wL7roovT+GQAAAEghL7zwgv/bqlUru/TSS9M89/rrr9uTTz7piQjPPfecPf300//z/YhlAQAAkFADtBnVtm1bzyR44IEHPINAmQUKnvPly+dTvRo2bGjdu3e3Sy65xF+vYFlBsLZBrz/55JN9ipqCYgAAAGBfvvnmGytXrtwe5bqkRIkS1qNHDy/ZNW/evP1+T2JZAAAAhLZImFacVVZAMFiroPOss85K9+CtMgbuuece/9pd6dKlbdGiRWke0zSybt26+RcAAACwvzSQWrJkyX+tEaYs2C+//HK/35NYFgAAAPGQ7pUXBg8ebP369fN6W6K7/6q19eyzz9rzzz8fl40CAAAA4kl1Yr/99lsvO7A3elwxrQZpAQAAgIQeoH3rrbe8ltadd97pP6um1htvvOGP6TkAAAAg0TRt2tT++usva9OmjX3++ef+vWzcuNF/vvHGG/2xzC7YBQAAAGR5iYNff/3VatWqZSeddFL0sRNOOMEXCZs9e3a6NwAAAADIaloc7OOPP7b58+f7IO3uIpGIValSZa/PAQAAAAmVQXvIIYf4IgsrV66MPrZ8+XL7+uuv7eCDD4739gEAAACZlj9/fl+Qq2XLlnbAAQf4gGzwpRlhzZs39+f1PQAAAJDQGbSa9qXVac877zwrX768L7iwePFiXzTssssuy5qtBAAAADJJg6+dOnWyjh072pIlS2z9+vU+WHvMMcdYvnz5wt48AAAApKh0D9C2a9fOVqxYYR9++KEvpBBo1KiRtW/fPt7bBwAAAMRV7ty5PdEAAAAAyJEDtJoe1q9fP886WLhwoT9WqVIlK1euXFZsHwAAAJBp11xzzR6P5cqVywdrCxcu7LHslVdeaUcffXQo2wcAAIDUle4BWtmwYYNt27bNyxzI+PHj7aCDDrLixYvHe/sAAACATPviiy/+9flPP/3URo4caSNGjLDKlStn23YBAAAA6R6g/eGHH+z666+3U0891fr06eOPdevWzQoVKmQvvviiHXfccVmxnQAAAECGde/efa+P79q1y7Zs2WKTJ0+2qVOn2tNPP20DBgzI9u0DAABA6kr3AG3Pnj1tzZo1VqBAAf95+/btdsopp9iUKVOsd+/eNmjQoKzYTgAAACDDLr744v9ZAkFrKsydOzfbtgkAAACQ3OndDfPmzbMqVapEsxBUk3bw4MFWtWpV+/LLL9mrAAAAyHFUj1b1Z//666+wNwUAAAApJt0DtKo9mydPnj0ej0Qi/hwAAACQ06jUwU8//WRFihQJe1MAAACQYtJd4uD444+3OXPm2IMPPmj169e3nTt32qRJk+y7776zGjVqZM1WAgAAAJkwffr0vT6uJANlzY4ZM8Z+/fVXj28BAACAhB6gbd++vbVq1creeOMN/woC23z58lm7du2yYhsBAACATFH8qjIG+6J4VqW7br/99mzdLgAAACDdA7RaEOz111+3IUOG2MKFC/2xSpUqWevWrb0OLQAAAJBojjzyyD0e04Bt3rx5vaxB+fLl7brrriOeBQAAQOIP0ErlypWtd+/eezw+a9Ysq1WrVjy2CwAAIMfT4qoqC7V06VJfZLVHjx5WtmzZNK/R9PqaNWtawYIFo5mcl1xyicdbW7dutfvvv98+/fRTO+CAA3wm08UXX+yv+7fnsKdPPvkk7E0AAADIUYhlE3yANtbatWu9ZpfKHfz888+2YMGC+GwZAABADqbFUzVdvlOnTtaoUSMbPHiwB56jR49O87pFixbZcccdZ+PGjfOfN2/e7LX9pU+fPrZlyxb77LPP7Mcff7Q2bdp4sKvZS//2HNJvx44d9uGHH/pMsVdeeSXszQEAAAgVsWz2yp3RX5wxY4bdeeedvpBCz549fTQdAAAA/8RKxYoVs6ZNm3pt01tvvdWWL1/uAWgslYzaVyD6zjvv+O8VKlTIF2rVewXB7789h/23ePFizwapV6+e3XPPPb4YLgAAQKojlk3gDNo1a9bYqFGj7K233vJs2dgFFZSGrLpdAAAAMFuyZIkdc8wx0Z/z5MljZcqU8QHBY489Nk3WgW50n3vuuZ5xoAwFfW3YsMH+/PPPNO9Rrlw5mzp1qq1fv36fz+F/2759u73//vv25ptv2hdffBGNaVWPVvseAAAg1RHLJuAA7bRp03y6l2p3/f333x7AygknnGDz58/3RRUeeuihrN5WAACAHEMBalCLK6AMAU3lilW4cGGv4X/zzTfbxo0bfSqZfvemm26K/k5A76d6XcF77O057JsyPhTTKjtDnYYgppVSpUrZiBEj7LDDDgt1GwEAABIBsWwCDtC2bt3aV7lVEKtR8iZNmnjqsUbOU7U2BAAAwL9RwLl7kKlgVIsgxFJdr0CRIkWsVatW9uyzz0YDYr2HAt/Y7//tOexd8+bN7auvvvLvFdPqOJx99tke16oDUbRoUQZnAQAA/h+xbALXoC1QoICdeOKJ/qUsAwAAAOydpmzF1ujfuXOnl4jS9K1Y/fv393pesYtV5cuXzw466CArXrx4mvfQVDP9vuqB7es57N2XX37p/6o017333mvTp0+3J554ws4444ywNw0AACDhEMsm4ACtRsOVOasV3LRa2w033ODBLGUNAAAA9q527dpeW2vs2LFe83TgwIFWtmxZLw0Va8GCBdFVbH/55Rd78cUX7fTTT/fnlN2poPevv/6yb775xhdT0Cym//Uc9qSOgDJnFc9qgduWLVva8OHDbfXq1WFvGgAAQMIhlk3AAVoFsOPHj7c33njDLrvsMk85VjA7cuRIL32wYsUKGzZsmBf5BQAAwH/raD333HP2yiuveICrmv59+/aNBqTBKrWPPvqo1/ivX7++x1kNGjTwqfdy55132sEHH2wNGza0O+64wzp37myVK1f+n89hT5999pnv/3r16vnPc+fOtccee8z3ezCtTscBAAAAxLIJWYM2oEXB9HXffff5yrdvvfWWB7cqAqwpYjpQQW0vAACAVFetWjUbNWrUHo+/++670e9LlChhTz/9dPRnLarw3Xff+fe6Kd69e/e9vve/PYc9aapd48aN/WvVqlV+XMaMGeOJBqIpdhq8veSSS+yee+4Je3MBAABCRyyboDVoYwsFK3jVSrcaqFXJg0MOOcSnjAEAAACJ7PDDD/cVhidOnOjT8JQFotq0a9eutaFDh4a9eQAAAEgx6cqg3RsV8FWWgVKTJ0+eHJ+tAgAASFEqH6Wb4foXWa9OnTr+tWHDBp+qt7csEQAAAOwfYtlszKDdmzx58njdCAAAgJxg566IJSIFtFWqVPF/E1Gi7reM6tq1q9dJK1q0qLVo0cLLHgAAACS6RI3JiGVDyqAFAADIifLkzmVdPl5lS9btCHtTcoxyxfLZIw0Pt2Si1Ym14jAAAEBOQiybXLEsA7QAACBlKaBdtJoa+gAAAMh5iGWTR9xKHAAAAAA5TSSSmNPcAAAAkDr2K4N2f2vLqgCwVsMFAAAAcoIOHTpYy5Ytw94MAAAApLD9GqDd37pcrNAGAACAnOS4444jixYAAACJP0D74osvRr9fvHixPf7449a4cWNr1KiR5c6d295//3379NNPrX///lm5rQAAAECGffbZZ/bYY4/ZwIEDrVy5ctHH+/bta19//bXdd999duyxx4a6jQAAAEg9+zVAW6dOnej3zz77rFWsWNF69+4dfeycc86xZs2a2XPPPWennXZa1mwpAAAAkEHz5s2zW265xXbt2mWzZ89OM0D74Ycf2tKlS61FixY2cuRIO/roo0PdVgAAAKSWdC8SNn/+/L1OA1Owq8AXAAAASDTKmt25c6edd955Vr9+/TTPPfnkk1a7dm1bt26dDRo0KLRtBAAAQGrarwzaWEceeaQtXLjQ7r33Xi9xoMFalTj4/vvvmRIGAACAhPTll196HNuzZ0/LkydPmudOOOEEGzx4sJ199tk2a9as0LYRAAAAqSndA7Rt27a1u+66y8aNG+dfokFaBbr33HNPVmwjAAAAkCmbN2+2qlWr7jE4GyhQoIAnG3zxxRfZvm0AAABIbekeoD3//POtVKlSNmzYMK/VlStXLl/9tk2bNv4vAAAAkGiUPfvdd9/Zpk2b7IADDtjrAK5miR166KGhbB8AAABSV7oHaOXEE0+0p556Kv5bAwAAAGQBLWo7ZMgQnw3WpUuXNAuBKengscce8xq0F154YajbCQAAgNSToQHa5cuX20svveSLgmmq2Lnnnmtbt261M888M/5bCAAAAGTSzTffbBMmTLDPP//cFworUqSIHXjggbZx40b766+/vGSXsmxvvfXWsDcVAAAAKSZ3en/hm2++sYsuusiGDx/u369evdoD3dtvv92DXgAAACDRaED2tdde80xa2bBhg61cudIHaDU4e8YZZ9iIESOsWLFiYW8qAAAAUky6M2iffPJJ2759uz344IP20EMPRVe+zZ07tw0aNMgaNWqUFdsJAAAAZMohhxxiTz/9tP3555+eaKBBWtWj1Yywww47LOzNAwAAQIpKdwbt/PnzrWbNmta8efPoYxqUPemkk2zx4sXx3j4AAAAgrooXL26lS5f2r6OOOspKliwZ9iYBAAAghaU7g7ZAgQL266+/+lSwgDJqV6xYYYULF4739gEAAABxsWPHDs+gHTlypJc2CKgW7VVXXWX/+c9/LH/+/KFuIwAAAFJPujNozzrrLFu2bJk1a9bMf/7666/tggsusFWrVln9+vWzYhsBAACATNm5c6fdeOON9vzzz3tpAyUbBF8arB0yZIi1adPGXwcAAAAkdAbtfffd56UM5s2b5z//9ttv/m+1atXsnnvuif8WAgAAAJmkBcJmzJjh5QzatWtnp556qh166KEey2rB22eeecZmz55tr776ql133XVhby4AAABSSN6MrID7+uuv2/Tp0+3bb7+1fPnyWYUKFaxOnTpZs4UAAABAJr399tsetypTVrFroEyZMl7e4Pjjj7crr7zSX8cALQAAABJ6gFY0Lezggw/2aWAyfvx4W7NmjS+4AAAAACSan376ySpVqpRmcDZW1apV/Xm9DgAAAEjoGrQ//PCDNW7c2AYPHhx9rFu3bnbhhRf6cwAAAECi2bVrl+XN+++5CXo+diFcAAAAICEHaHv27OnZsgUKFPCft2/fbqeccoqtXr3aevfunRXbCAAAAGRK6dKl7bvvvrOVK1fu9XktgrtgwQIveQAAAAAk9ACtFgerUqWKde/e3X/Onz+/Z9NqWtiXX36ZFdsIAAAAZErDhg1t69atdvPNN/tiYcqoFf07depUu+WWW2zHjh127rnnhr2pAAAASDHprkG7bds2y5Mnzx6PazqYngMAAAASzY033mgTJkzwklytWrXyeLZYsWK2bt0627lzp8ey5cqV8+cAAACAhM6g1Qq333zzjT344IP2ySef2EcffWT33XefTxnTcwAAAECiOfDAA+3VV1+1c845x3LlymV///23l+jSv0GG7fDhw+2AAw4Ie1MBAACQYtKdQdu+fXvPLHjjjTf8S5RxkC9fPmvXrl1WbCMAAACQacWLF7enn37a11NQwsGGDRt8QFalukqWLOmzwXr06GGdOnUKe1MBAACQQtKdQasFwUaOHGnnn3++HXPMMf7VpEkTf6xGjRrpei/V/Orfv7/Vq1fPqlev7lPPli9fvl+/O27cOKtYsaKtWLEivX8CAAAAUozKGPTt29fq16/vWbQvvfSSVapUyc4880wfnJ07d65deOGF/vj+IpYFAABAKBm0okXCevfunen/fMCAATZixAjPVDj88MOtZ8+e1qZNGxs/frwvPrYvv/zyiz388MOZ/v8BAACQGjQ4O2TIEJ/5JZ9//rkPqL733nv2+uuvexyqQdz0lDgglgUAAEBoA7Rz5syxr776yqeBBUFu4I477tiv99i+fbsNHTrU7r77bmvQoIE/9tRTT3kGghZwaNq06T4zFe655x6fiqYVeAEAAID/RfGlFgbr0KGDHXXUUfbaa6/ZtGnT7LHHHrPRo0d7jHnCCSdYr1699uv9iGUBAAAQ2gDts88+a88888wej2ugVgsu7O8A7cKFC23Tpk1Wp06d6GNFixb17NzZs2fvM6gdNGiQ7dixw/8fgloAAADsj99//91q1qxpN9xwg/980kkn2WmnnWajRo3yGPaWW26x//znPz6Iuz+IZQEAABDaAK2mcWkw9rjjjrNjjz3W8ubNUBKurVq1yv894ogj0jyuGmDBc7ubP3++Zyq89dZb9ttvv2Xo/wUAAEDq2bJlS5ryBVowTDQ4q4XDGjZsmK73I5YFAABAvKR7dHXz5s1WoUIFGzt2rOXOne41xtIEybJ7fa4CBQrY+vXr9/r/agqZvo4++ui4BrWqN5Zd9jcrA1l3nDgGGccxCB/HIHwcg/BxDMKXnbFTVtHArJx88snpHpwVYlmkF9eu8HEMwscxCB/HIHwcg/DtTMBYNt0DtFr59qeffsrU4KwULFgwWr8r+F5U17ZQoUJ7vP7RRx+1cuXK2VVXXWXxpDpgGzdutOygk6dIkSLZ8n8lI3VsMnsScQwyh2MQPo5B+DgG4eMYJMcx2N84LbMxZ6w1a9bY9OnT9/g/dn8stmzBvhDLIr24doWPYxA+jkH4OAbh4xiEb3MCxrLpHqBt3Lixde3a1et01a1b1wPQIANBLrvssv16n2A6mOqBlS1bNvq4fq5YseIer1d9MGUoqF6YBDtS9b20LfrKCO0oPtQ5Q+HChcPehJTHMQgfxyB8HIPwcQxS5xjEc3BWvvzyS2vdunX0Z8Wwe3tswYIF//O9iGWRXly7wscxCB/HIHwcg/BxDMJXOAFj2XQP0LZv394D108//dS/dre/A7SVKlWyAw880GbOnBkNajds2OABcYsWLfZ4vVbDjTVv3jxfAXfw4MFeciEzSAvPGThO4eMYhI9jED6OQfg4BuHLicfgyCOPjOv7EcsivThO4eMYhI9jED6OQfg4BuHLk4DHIN0DtFr9Nh6UQaDgtVevXr5IQ6lSpaxnz552+OGHW6NGjTyrQNPQlBGgaWNHHXVUmt8PFl9QsF2sWLG4bBMAAACS0yeffBLX9yOWBQAAQGgDtK+88krc/vO2bdva33//bQ888IBt3brVB39feOEFy5cvn61YscIXbOjevbtdcsklcfs/AQAAgHgglgUAAEAoA7QSiURs7dq1vgiCvg8K7M6ePduaN2+erpRiTe3S1+5Kly5tixYt2ufv1q5d+1+fBwAAALISsSwAAABCGaDVIKyyBdatW7fX59MzQAsAAAAAAAAAqSzdS+OqzpayZ4sWLerZsyVLlvRpXPr+3HPPzZqtBAAAAAAAAIAklO4B2u+//95Xrf388899QYN+/frZRx995AO2ibgKGgAAAAAAAAAkzQCtMmVLlChhefPmterVq9uXX35phx12mB1//PE2Y8aMrNlKAAAAAAAAAEhC6a5Be9RRR3kd2smTJ/sA7fDhw23Hjh02Z84cy58/f9ZsJQAAAAAAAAAkoXRn0N5yyy0+ILtkyRJr1KiRrVq1yp566inbtm2b1a1bN2u2EgAAAAAAAACSULozaM877zwrW7asFS5c2MqVK2f9+/e3N99800qXLm1t27bNmq0EAAAAAAAAgCSU7gFaqVq1avT7hg0b+hcAAAAAAAAAIAsGaDt27Lhfb5YrVy574okn0rkJAAAAAAAAAJCa9muAdty4cT74GolE/vV1DNACAAAAAAAAQJwHaO+44450vCUAAAAAAAAAYH8wQAsAAAAAAAAAOWmRsIULF9qSJUts27Zt0cc2bdpkX3zxhfXp0yee2wcAAAAAAAAASSvdA7QjRoywRx55ZJ/PM0ALAAAAAAAAAPsnt6XTK6+84ouB1a9f3xcNO+ecc6xy5cr+fZs2bdL7dgAAAAAAAACQstI9QPvLL79YjRo1bNCgQVaqVCm74oor7PXXX/fv582blzVbCQAAAAAAAABJKN0DtAULFrSdO3f699WrV7fZs2dbvnz57IgjjrAFCxZkxTYCAAAAAAAAQFJKdw3aqlWr2owZM7zUwSmnnGI9e/a0b7/91ubMmWMlSpTImq0EAAAAAAAAgCSU7gzae++91w455BDPmj3vvPOsQIECNnXqVH/u0ksvzYptBAAAAAAAAICklO4M2kqVKtknn3xiW7dutaJFi9ro0aPtgw8+sDJlyviCYQAAAAAAAACALBqglfz58/vX9u3bbe3atdaoUSMrXbp0Rt4KAAAAAAAAAFLWfg/Qjh07Npope+utt9rKlSv939WrV/vzdevWtb59+1qRIkWycnsBAAAAAAAAILUGaIcNG2ZPPPGERSIRy5Url82ePdt27dplf/zxR/Q106ZNs8cff9y6d++eldsLAAAAAAAAAKm1SNhrr71muXPntptvvtlatmxpCxcutB9++MGuu+46++qrr/z5ggUL2pQpU7J+iwEAAAAAAAAglTJof/31VzvllFOsQ4cO/vOXX35p8+bNs9tvv90HZk866SQ78cQTbc6cOVm9vQAAAAAAAACQWhm0WgwstrbswQcf7P8edNBB0ccKFy5sO3fuzIptBAAAAAAAAIDUHaAV1Z6N/lLu3P/6PAAAAAAAAAAgTiUOZM2aNTZ9+vTo9zJjxgxfOCz2MQAAAAAAAABAnAdoVXe2devWaR5r1apV9HsN1JJFCwAAAAAAAABxHqA98sgj0/GWAAAAAAAAAIC4DdB+8skn+/VmAAAAAAAAAIAsWCQMAAAAAAAAABBfDNACAAAAAAAAQEgYoAUAAAAAAACAkDBACwAAAAAAAAAhYYAWAAAAAAAAAELCAC0AAAAAAAAAhIQBWgAAAAAAAAAICQO0AAAAAAAAABASBmgBAAAAAAAAICQM0AIAAAAAAABASBigBQAAAAAAAICQMEALAAAAAAAAACFhgBYAAAAAAAAAQsIALQAAAAAAAACEhAFaAAAAAAAAAAgJA7QAAAAAAAAAEBIGaAEAAAAAAAAgJAzQAgAAAAAAAEBIGKAFAAAAAAAAgJAwQAsAAAAAAAAAIWGAFgAAAAAAAABCwgAtAAAAAAAAAISEAVoAAAAAAAAACAkDtAAAAAAAAACQigO0u3btsv79+1u9evWsevXqduONN9ry5cv3+foffvjBbrrpJqtdu7bVqVPH2rZtaytXrszWbQYAAACEWBYAAAA5foB2wIABNmLECHvkkUds5MiRHuS2adPGtm/fvsdr165da61atbKCBQvaK6+8Ys8//7ytWbPGX79t27ZQth8AAACpi1gWAAAAOXqAVoHr0KFDPXOgQYMGVqlSJXvqqads1apVNmHChD1eP3HiRNu8ebM9+eSTVqFCBatWrZr17NnTfvrpJ5s7d24ofwMAAABSE7EsAAAAcvwA7cKFC23Tpk0+vStQtGhRq1Klis2ePXuP1+t1ylJQ1kEgd+7/bv6GDRuyaasBAAAAYlkAAADET14LibIL5IgjjkjzeMmSJaPPxSpdurR/xRo8eLAHuTVr1szirQUAAAD+QSwLAACAHD9Au2XLFv83f/78aR4vUKCArV+//n/+vmp3DR8+3B544AErXrx4prZl586dll3y5MmTbf9XsonXceIYZBzHIHwcg/BxDMLHMQhfdsZOiYpYFunFtSt8HIPwcQzCxzEIH8cgfDsTMJYNbYA2mN6l+l2xU720SEKhQoX2+XuRSMT69etnAwcOtFtvvdWuvfbaTG2HFnPYuHGjZQedPEWKFMmW/ysZqW5bZk8ijkHmcAzCxzEIH8cgfByD5DgG+xunBWUAEg2xLNKLa1f4OAbh4xiEj2MQPo5B+DYnYCwb2gBtMB3s999/t7Jly0Yf188VK1bc6+/s2LHDOnfubO+8847/27Jly0xvh3YUH+qcoXDhwmFvQsrjGISPYxA+jkH4OAapcwwSdXBWiGWRXly7wscxCB/HIHwcg/BxDMKXiLFsaAO0Wun2wAMPtJkzZ0aDWi2QsGDBAmvRosVef6djx4720UcfWe/eva1JkyZx2xbSwnMGjlP4OAbh4xiEj2MQPo5B+DgGxLJIP45T+DgG4eMYhI9jED6OQfjyJOAxCG2AVvW6FLz26tXL626VKlXKevbsaYcffrg1atTIU43XrFnjGQGaNjZ69Gh77733PLCtVauW/fHHH9H3Cl4DAAAAZAdiWQAAAMRLqPPG2rZta5dddpkvjtC8eXMfwX7hhRcsX7589uuvv9rpp5/ugaxoKpg8+eST/njsV/AaAAAAILsQywIAACBHZ9CKgth77rnHv3ZXunRpW7RoUfTnoUOHZvPWAQAAAPtGLAsAAIB4SNyVFwAAAAAAAAAgyTFACwAAAAAAAAAhYYAWAAAAAAAAAELCAC0AAAAAAAAAhIQBWgAAAAAAAAAICQO0AAAAAAAAABASBmgBAAAAAAAAICQM0AIAAAAAAABASBigBQAAAAAAAICQMEALAAAAAAAAACFhgBYAAAAAAAAAQsIALQAAAAAAAACEhAFaAAAAAAAAAAgJA7QAAAAAAAAAEBIGaAEAAAAAAAAgJAzQAgAAAAAAAEBIGKAFAAAAAAAAgJAwQAsAAAAAAAAAIWGAFgAAAAAAAABCwgAtAAAAAAAAAISEAVoAAAAAAAAACAkDtAAAAAAAAAAQEgZoAQAAAAAAACAkDNACAAAAAAAAQEgYoAUAAAAAAACAkDBACwAAAAAAAAAhYYAWAAAAAAAAAELCAC0AAAAAAAAAhIQBWgAAAAAAAAAICQO0AAAAAAAAABASBmgBAAAAAAAAICQM0AIAAAAAAABASBigBQAAAAAAAICQMEALAAAAAAAAACFhgBYAAAAAAAAAQsIALQAAAAAAAACEhAFaAAAAAAAAAAgJA7QAAAAAAAAAEBIGaAEAAAAAAAAgJAzQAgAAAAAAAEBIGKAFAAAAAAAAgJAwQAsAAAAAAAAAIWGAFgAAAAAAAABCwgAtAAAAAAAAAISEAVoAAAAAAAAACAkDtAAAAAAAAAAQEgZoAQAAAAAAACAkDNACAAAAAAAAQEgYoAUAAAAAAACAkDBACwAAAAAAAAAhYYAWAAAAAAAAAELCAC0AAAAAAAAAhIQBWgAAAAAAAAAICQO0AAAAAAAAABASBmgBAAAAAAAAIBUHaHft2mX9+/e3evXqWfXq1e3GG2+05cuX7/P1a9eutbvuustq1qxptWrVsoceesi2bNmSrdsMAAAACLEsAAAAcvwA7YABA2zEiBH2yCOP2MiRIz3IbdOmjW3fvn2vr2/btq0tW7bMhg0bZv369bNPP/3UunXrlu3bDQAAABDLAgAAIEcP0CpwHTp0qAeqDRo0sEqVKtlTTz1lq1atsgkTJuzx+i+//NJmzZplTzzxhFWtWtXq1KljDz/8sL399tv222+/hfI3AAAAIDURywIAACDHD9AuXLjQNm3a5MFpoGjRolalShWbPXv2Hq+fM2eOHXrooVa+fPnoY5oalitXLvviiy+ybbsBAAAAYlkAAADk+AFaZRfIEUcckebxkiVLRp+LpcyC3V+bP39+K1asmP36669ZvLUAAADAP4hlAQAAEC95LSTBgggKTGMVKFDA1q9fv9fX7/7a4PXbtm3L0Dbs2LHDIpGIff3115adbvu7rv2da2e2/p85Wd5teeJ+jDgG4R+Dm8rstL9LReL6nsksb+6/7Ouv18X1PTkG6cMxCB/HIDmPwf8qI6AM00RELEsctb+IZcNHLBs+2vDwcQzCxzEIX94EjmVDG6AtWLBgdGOD70UBaqFChfb6+r0tuKDXFy5cOEPbEFbAXzzvgaH8v/gHxyB8BxfKE/YmpDyOQfg4BuHjGCQ2xWqJOkBLLIswcQzCR/sRPo5B+DgG4eMYJE8sG9oAbTDF6/fff7eyZctGH9fPFStW3OP1hx9+uE2cODHNYwpy161b51PJMuKkk07K0O8BAAAgtRHLAgAAIMfXoNVKtwceeKDNnDkz+tiGDRtswYIFVrNmzT1er8dUz2vZsmXRx7QSrpxyyinZtNUAAAAAsSwAAADiJ7QMWtXgatGihfXq1cuKFy9upUqVsp49e3p2QaNGjWznzp22Zs0aK1KkiE8JO/HEE+3kk0+2Dh06WLdu3Wzz5s3WtWtXa9asmR122GFh/RkAAABIQcSyAAAAiJdcEa0sEBIFrn369LHRo0fb1q1bPbNAgWrp0qVtxYoV1rBhQ+vevbtdcskl/vo///zTHnroIfvss898QYXGjRtb586d/XsAAAAgOxHLAgAAIMcP0AIAAAAAAABAKgutBi0AAAAAAAAApDoGaAEAAAAAAAAgJAzQAgAAAAAAAEBIGKAFAAAAAAAAgJAwQAsAAAAAAAAAIWGAFgAAAAAAAABCwgAtAAAAAAAAAISEAVoAAAAAAAAACAkDtACAbBGJRMLeBAAAACBDiGUBZCUGaIEstGvXrjSNOY169vv1119t48aN/v3OnTv9X45D9nn55Zft6aef9u9z5crFvkdKC9oEAPuHOAoglg0bsSzwD2LZrMUAbQqhMcn+/Z07939PsSlTpvi/NOrZb+bMmTZq1Cj/ft26ddHjgKynzsSPP/5or776qg0ZMsQf4xxAqoptE3RNmjVrVtibBCQ04qjExP7PfsSy4SGWBf5BLJv1GKBNgTsbO3bs8H9pyLN3/wf7e/HixXbzzTdbz549/Wca9ew1d+5cD6g6d+5sV199tf3222/c+csmRYoUsRtvvNEuvvhiGzZsmA0ePNgf5xwIH/s/+/d30CaMGDHC+vTpYwcddBDHAdgH4qjEQH8iMRDLhodYNnGx/7MXsWz2yJtN/w9CurMxfPhw+/bbby1Pnjz2n//8xw477LCwNy+l9v+AAQPshx9+sLx589oLL7xgW7Zssa5du0YbdYLcrPfwww97527MmDHWpEkTO/TQQ/34sP+zvmOtrzJlytg111zj+1tTxPSYAl3OgewT7Gd16NTB/uuvv/y4HHDAAWFvWsoIPueTJ0+2CRMm2O23324VK1ZMMwgF4L+IoxID/YnEQSyb/YhlEwuxbPiIZbMHA7RJJraReOKJJ+yNN96wmjVr2ldffeV3X3v16mVVqlQJezOTWrD/Bw4caC+99JI98sgj1rRpU+9gDBo0yP7++28PtGjUs962bdv83z/++MOOP/54mz9/vgdWl156qd8RZ/9njaBDFyhdurRdddVVvr+VfaB/b7rpJs6BbBDs34kTJ1q/fv28dp1q2dWoUcMuu+wyO/fcc8PexJSxatUqH+TQdLBjjjkmeq4osN39nAFSGXFU+OhPJA5i2XAQyyYOYtnEQSyb9RigTTJB47B27Vr7/vvvvV6O7mzo5zZt2thdd93lQVXVqlXD3tSkprt6c+bMsQ4dOlijRo38sdNPP92OPvpou/vuu61gwYJ233330ahnkWCf5s+f3//98MMP/fF77rnHXnnlFX9eDboC26BB4ThknjKd5s2bZ+XKlbM6derYwQcfbNWqVfP9q8++Alnt79dee833t6ascg5kLe3X6dOn+2df13997j/44APr1KmTZ+EoG61QoUJhb2ZS2v1zffjhh1vbtm0tX758Nm7cOO9oa8ok1x9gT8RR4aI/ET5i2XAQyyYeYtnwEMtmP4a5k5DuqjZv3ty2b99uhxxyiJ8oxYsX95o5unjp4rZgwYKwNzPpqaD86tWroz8XKFDAzjrrLL/Lp2OkjAThQhZfQeOghlydt1atWtmnn37qz6l+3cknn+x3/lTYfPPmzfbTTz/5cxyHjFOgqs+6giXta2UWdOzY0a677jo7++yzPeOgf//+9t1331mtWrWsfv36PlVV9YuEfZ81gppQn3zyiQewLVq08OOkzoe+P+GEE7yDofMA8RU73UvZBhrgWLNmje9z1RDUeaDzZPz48f4avZZ6gkBaxFHhoj8RHmLZ7Ecsm5iIZcNDLBsOBmiT8CJWvnx5/14nkYIq0clSokQJe/75561w4cLWsmVLW7JkSchbmxz2diFSJ+KUU07xY7B8+fLo47oLrno5yjh466237JlnnsnmrU1+ahw++ugju+222/zzX6FChegUjCCw1TQ9BVVXXnmlB73KCKHAecZpP+v68thjj1nt2rU900B3t4cOHWqXXHKJF5B/7733POumW7duNnLkSA+kNEX1zTffDHvzk57q1lWqVMmnBauzfeqpp9oDDzzgn3sV+NfzyJq6jbrG33LLLX6d0XRUdfY0sKEajmoLdB165513/LVMDUOqIo5KPPQnwkUsm/2IZRMbsWz2IpYND3swyYJaNeinnXaa1+tS6rnuum7atCmadq474Lrj1LBhQytbtmxo250sYuutqC6OaqWpPpf2/UUXXWSTJk3yDISg0dCxULaB9v/1119vn332WZrsEGSeOnLKqlHj0bt3bw9utY+ffPJJb2DUsPfo0cPviCsAU+Cl6Uvc+c4YdZDVWP/5558+zeXOO+/0Rls10vR5v+OOO+y5557z12l6no6JFla44IIL7KijjvIsEGSN4DN97LHH+ue8QYMGnnmmgFZ07TriiCPswAMPDHlLk0fs9C7Vz1RmjQLYKVOm+PmhDBDVTatcubKfG2qHdb36/PPPw950IBTEUYmB/kRiIZbNXsSyiYtYNvsRy4aLGrRJEtQqgF26dKk32MoqqFu3rt9NUgOjOiGakqFVDnXClSxZ0rp37+6/pyLbWpEVGRPsf12UdPdUNdE2btxoN9xwg+/3xx9/3L+++OILbzjUyG/dutWnh+kurBp5/Q7iR/tXn3F1LNR4qEbaokWLvD6RAq/ff//d73YrsNL5opWhkXG6fug80Of96aefthNPPNHrQyl4VaO+fv16X9xFn399KZDVXe9g4QtlSSH+K9zqWqN9f9JJJ3ltqNmzZ9u6dev82qQMtKDdUAdEWSHInLFjx1qzZs2iAa3qZ06bNs071xrA0HTJqVOnetaNMm40HUwdO3WuVdMuOCeAVEMcFT76E4mHWDZ7EcsmDmLZ8BDLJoZcEeZC5Hi6m6oizbp7tGHDBvv555/t9ttv9zsaWmFPQZXucDz11FPcXYqTHTt2eEaBKHvj0Ucf9SBV+1kZBWPGjLErrrjCG/pvvvnGF7pQLTXdYdLUGAUBer2mhem4KNhFfO70/fLLL96I6A6f6kQpyGrcuLFPAXv22Wf9brg6dsHxQ+Y7dqrXpemOClD1+VeNOi2woA6Fnr/mmmvs/PPP99fHdiQoJp81K9xqlXPViFLwqimoOg4zZ870Vbi1CnT16tW9k/f11197tpquW8g4TXP8+OOPfb/r2h50LFSv7vXXX/fagMp+Ur3Gq6++2gc7NKik2oGxbTIDHEglxFGJh/5EuIhlw0MsmxiIZcNDLJs4uN2Ww6neh7769evnjbfuqiq40kmjYFW1QhRIXXvttX5HUAWdkXEqyK+C5EFApIuZphypeHwwvUV3XNWQ62Im2veqY6TaRsuWLfPjpWBL02S0Ki6disw35Mq20THRndZSpUr5vn333Xe9dpSmLAVB1MqVK331SerjZG6fB3WJggBVnQY9phpEarwV2Op6pJW2FVDpc67X63WxWR4EtPGjfam73Nrn+tKq5xrQUIdagxoKsNTRU8bZihUr/Jp0//33p6lph/TT4IVWNldAq4B07ty53hYcdthhPt1Ug0vKetJUPF2LRCtuH3roodHsjwABLVIBcVRioj8RHmLZ7Ecsm5iIZcNBLJtglEGLnOGee+6JLF261L/ftWuX//vkk09G7r777jSv27hxY6RXr16R0047LbJkyRJ/bMGCBZG///47hK1OHu+++27koosu8v0Y7Msrr7wyUrFixUjLli0jW7duTfP6nj17Rs4444zIY489Fvnzzz8jq1ev9u/PPffcSOvWrSPfffddSH9JcgjOgcmTJ/v+b9y4caRu3bqRvn37RlatWuXPrVu3LjJt2rTIrFmz/Fw5+eSTI99//33IW56zrV+/fq+P79ixIzJ+/PjIBRdc4OeFPu/y1Vdf+fFp2rRp5KOPPsrmrU0tjz76aKRHjx7+vc6BBg0aRB5//PHITz/9FHn22WcjO3fuDHsTk8rDDz8cadSoUWT79u3+s6411apViwwYMMB/fv31170dvu6666K/o2Nw/fXXRzp27BjadgNhIY5KDPQnEgexbDiIZRMXsWz2IpZNPGTQ5hBK8Vcav6YdxVq1apXfcY2dXqE0c9UAUbq/pihJkPZP2nnGnXHGGV6UXPtP0/Hq1avnmR/K9FCKv+7m6a6q6uCI7vzp2OgOX1C4/+abb/bHNbWPjI/M0f6cPHmy39VT4XJ95rXirWpFaWVb7fMffvjB97fOCU2P0d3v4447LuxNz7FefPFFz6DR3WtdU1RvqE6dOl7/T9keqs+lO6mvvPKKZx/oWCj7QHdmhwwZwvSjOAuu+6rPpdpbWlSkSpUqXpvu8ssvt/r163uW04wZM7zAf61ataxGjRphb3bSUJusz7synlSXS9d1ZXe89tprnlmgLEFNEVZNL2Uc6HxRe6C6XTofhKmRSCXEUeGjP5FYiGWzH7FsYiGWDRexbOJhgDaHUB0cTSkSTflSo6KLl77UyGjxhNiLlRp0rXaohjwWwVT6LVy40DsBZcqU8Z9V90lF+VV/pWvXrl5AXkW0tYiFLnCqGRUsWPHQQw9FL1r6V8dR3+8+HQDpo6mPmpKk6V86FvrSlC918LSqsxZW0EqSZ555pjfm+tyrkaGAfMbpc69af/r86pzQVKOiRYt63UCdHwpYdc2pVKmSdxxUy0t1inr27OnXJl2zWEQhfoLrijpyo0eP9hW2NeVR05JUu1EDIVp9W/T513Q8XX8Qn2BWA0jax19++aVf8zXooXa4QoUKPgVSUyO1z9WpVidbix/pZ3UCVc9R37OwC1IFcVTioD+ROIhlsx+xbGIhlg0PsWziYm/mMApgFVipgX7mmWd8FUMVzG7fvr099thjXoNFDYeCXTU41GTJvOnTp9uwYcO8Npf2dbFixXw1Q9Xl0sVL9Viee+45u+mmm7wjoYZGwVSQARJ0KrizlHnBflQdOnXeVA9Hd/l0XmjhBO133WXVXT4dH61ArJVWkTm6Q6rPvwrzq96QiverOL9q0umOt2oBamVVLSIyZcoU72DoOqSOhc4PXavoTGeeakPp2q9BDZ0Hixcv9n2rFVc18KFzQYtYqPOm61FAx0QBra5dyJzmzZt7do32szL9tDiCMgG1wrDaAy1gpNeIVjvXStwtW7b0DJBYyj4joEWqII5KPPQnwkMsGw5i2cRALBs+YtnElkt1DsLeCPz73dXdi8BrGpLusooCJ93xe+KJJ3yKjL7XHVedLJo2pnT1vb0H9p/S+u+9916fYqQLkS5gOm10MdN+18VNDbfccsstfhyGDh1qdevWDXvTk5ICKnX22rVrZ126dPFgScGUAloVitdnXp99TWHS3dfdsz6Q/k6E9qvOA033kh49enjAevrpp/u1KPZutlb8VLCl6S8KdPU8U/EyTx1mZdnouqOOslat1bQ7tQdadfiQQw6JBrC6q61i/5oOqSBYCy68/PLLniGFzNEUbC1mpOuOpuEp40zHQ49raqRW19ZzS5cu9euQHr/44outQ4cOYW86EBriqPDRn0gsxLLZh1g2cRDLJgZi2cTGkHcCiw2E1Djo7p7u5Klmly5iututDAStLKm7GwqoVD9KFzG9RlMBSDvPPN1FUmOg9P8SJUr46qpa1VAXKnnyySf9X3UudFdQwa3q4yD+vv/+ex1fAW8AADopSURBVO9EqAadMms0BUn7XNkFmoIUrAqt6UuaIsP9p8wJ7owqsA0ymaRTp07+uVetIl2ndDyCwFYdOp0fotpRyDxNrVPWh+rOBVlM+qxrKtKCBQt8WljQydZUJWWHKADWKty6fikjiuyn+Dj//PP9X3UodH4o209trj7zWvlZHQoFtqrRpSwQtcnKjiL7D6mMOCpc9CcSC7Fs9iKWTQzEsomDWDaxkUGboGJPgOCCpgBJ6egqIq8Lmu7utW7d2l/Xr18/K1++fJr3oIB/xu2eJTBhwgRv1BVAacqLLl5qJNatW+dTkBTUnnfeeX6sAgSz8aVaUbrzqjt66kAEi4NoGpiyDnRnW0Gu7gSqc6EAQD8j85T5pM+9sg5iP9cKbHWXW9kHmoakwDb2ukNDnnn6rKsGVLdu3TxIUvF+XZu0j3Vn++GHH/bgVVP0ND0sEBwHjkF87L4fBw8e7FNPle2nxV10Xrz99tveNmgqqqbrqZ3+9ddfvYPNFG2kGuKoxEB/IrEQy4aHWDY8xLKJgVg2Z2CeSoIKPvi6s62pLbqoqUC8AijdxVABZ93l0BQwvfa6667zaRuxCKYy36lQ8XjVJKpWrZpnEahQufa7sg3UoKgOjlY0VJCr6Rn63eCeB52K+Ae1qs81Z84c79AFunfv7jW7RNMm9bnXypMEtBmnaXex1xOdD8GiCPpcB59xZdzovNB+V20vBVex1x0a8MzRgjm6xqsYv77X9K4gs0ZBq+5sa0EFdSY0BUlBVYB7r/Gj63rsZ1k/qxOnaakabNKAhs6Liy66yNq0aeNTIjVlW4GuVkrX7+7+HkAyI45KHPQnEguxbPYhlk0MxLKJgVg2B1EGLRLT33//Hbn77rsjr776qv/87bffRnr06BE57bTTIhUrVox07NjRH//ll1/8dXo9MmfXrl3R7/v06RM577zzIlWrVo288cYb0ceXLVsWueKKKyINGjSITJ8+PTJkyJDIrFmzor+7c+fOULY92Wm/fvzxx5GzzjorcsEFF0R+//33PV6zbdu2yI4dO0LZvmTx66+/+mf+0UcfjSxevNgf69KlS6RFixaRyZMnR1atWhXZsmVLZOvWrdHfGThwYOTMM8+M9O7dm89/nHTu3DlSu3btyPfff++f9fbt20cqV64cmTZtmj+v631wzddrWrZsGbnmmmvSXKuQebGf5zFjxkR69uwZefDBByObN2/2x4YPH+7tsdoLvVbXoJdffjly5513ci4gJRFHJR76E4mDWDZ7EMsmBmLZxEAsm7NQ4iCB7J4yvmXLFl9BTwWzTz75ZJ+SUblyZTv11FOtdOnSdtddd3ltFmUlBJiGFB9a2Xb48OHWt29fX0VS2QVaaXXt2rW+75Xlof3/1Vdf+XQkFTtnCkb8BPtRdbo0HWn16tV2wgknWIUKFXwakqZCasEE1cfR+cE0yPhSZoc+3+eee65Pe1HmzUsvveT7WNcY1SnSFMhy5cp5doem6E2aNMmnj6m4PDL32dfUL62WqimPxx9/vD+uTDNNEfvwww89w0OZCDoWomuPstRUT03XK90F16IKiB/VxBw/frxfg3RMdF4EtezUVigrRPXrlAWoDAMdkyDbgEV1kIqIo8JDfyIxEMuGi1g2PMSyiYlYNmdggDZBxH7w1UArmFLDoekZqteiw3TJJZf4invHHnusF9N+8MEHfdU9BVeIn99//92L9OuipYbjp59+8tVWg85DkyZNvHi2GpS5c+d6sKvHuXjFlxpvffbVqdPKz/q3UaNG3nCroL8++wqm1Pk79NBDw97cpKNpj6pHpCl3WmVVRfzVsM+fP9+WLVvmxeK//fZb++OPP3yK6uuvv+71ipA5wXUk6NjFdpL/V2Cra5UCrSOPPDLkvyK5BPUxtZq2BpL0mVc9Ll2HtOK2BjUU2D766KNeR+2KK67w32OgCamKOCo89CcSC7FsuIhlw0Esm3iIZXMOBmgTLJhSUWatsKq7rc8995yfQBs2bPCsAxWUF61+qzuCmzdvtmHDhhHMxplqQ2nFTtUj0sVKWSCqi6NsAzUgyvZQgxKs7ilkGmTOtm3bonWhREHUrbfeau3atbNzzjnH78K+/PLL9t5773nH7s4777SPPvrIgywFUipyrvOABiT+2QdaNVUdPGUg6M5qrO3bt3sNO13D6FhkXbsQ+706FAps33//fb8O1a1bN01gi/hTO6sOhTrZ6uxp0RYt5qLrks6BN9980wc6tAjSWWedRQYUUh5xVDjoT4SLWDYxEcuGh1g2cRDL5hzs+QQQXKx0V0Mnhwoyn3baaVaiRAm/WBUtWtTv+OkOt1b1DH5Hd/n0LxkHGbe3fafpFAqcRo8e7QspXH/99d6ga1qSLlq6A64pSbFoTDJO2QMqEK+i5MGx0J1tNRJ6TPtWX5omowZEd1zV8WvYsKEHsRUrVmT/Z5EaNWr41DtlHmihBU1J1SqeogZdnTxNy0P8BHeqY++d6rwIBi/UiVM2iCg7TQMf9evXD3GLk79N0GCTFq7Q4IY61so8U2dPWVAXX3yxzZgxw69X+lmYpopUQhyVOOhPhIdYNnERy2Y/YtlwEcvmbOz1BKGTQo21auOoDs5vv/3md74V3Cqg1UmklVW1wmSZMmX8RNJJw8kTn4uX9muw0qem2mnqnQInNS4lS5b0xxVQqUaX7q5SEyc+evTo4Z/5cePGpZkKoxpEakgUNOkxfc4VPLVo0cJfr6wEnQc6L5C1TjzxRG/QVY9Id1/V4dO+D1ZgRfwEn39NRX333Xf9M68agZr+pYA2uN4rsFVGjs4R1UpTzTRlRZF1E782QfUCtZKzanSpPdD1XyvaPvnkk37d0eCSss9UJy1oIwK0yUgVxFGJh/5E9iOWTXzEstmHWDZcxLI5H3s+Qegk0ImhE2ratGk2aNAg++WXX/yut77XBU1Fm2vWrBn9Hd2F4uTJuODi1bNnTy+YrdpDaiQee+wxr53WqlUrn4KhWiw6Fnpu3bp1HuRSMDvzNMVozJgxXhNHU+9i96c+56+99pp98skn0WkWQbFyTZGkLlH2ql69umeH3H333T4VUne7OQbxp+vKxx9/7FkFCmaVaab2QIu7qGZgbCe6bNmy9sADD3jHLyjwj8x1KILrj2oBatqprv9qC5T9p6mooswbZaBpIEoLWIgyoIBURByVeOhPZC9i2ZyDWDZ7EMuGh1g2ORAVhWBvZX/1mE4g1YJq3bq1Nxha9VDTjho3buw1Q3bHVJjMU0ClO95qsN944w2/o33jjTd6PSgFXFowQYGu7ugp0NJjutuqhoVORcZ1797d96VqcWlaV+z+1HSjM844w8477zw/B9TIy9atW/0Y6U4fAVU4U8R0XqheUVC/DvFtE7SwjqYDa/qp6gfq86672vpXi+tIENiKsj9iazgi44KMjWeeecb3tzoWyrbR1FTVrVNnTtPC1GZoqrY6eBpsUhuttjionQakGuKo8NCfCBexbM5DLJt1iGXDRyybHFgkLJvF3lnVtCOdFLqrrQuXahVpNcljjjnGTjnllOjrNRVJd6CUmo74Tr9QloeK+mu1wsD69ev9rpOmWqiG1+4F41nIInMUGKmxUOOtDAJNtwiCJO1vNdqacqfzQR09TY9RXS+tcqvVJlVMvkqVKmH/GSlLDTx3ueNPU1AVMKljrYwcZRWIVrPVz1rAQtkHOjeQNZRRoOmPyqpRJoGmpyrzSdclTQNT9kGzZs18arAGnNQhV3vO1GCkIuKocNGfCBexbM5GLJs1iGXDRyyb83EUQko7150NnSxqpHWyKGC67bbbvF6XTqS3337b774qNV2Brk4yxP94aP/vnsGh4FaLKuiuuOq27N6xoFORcfpMa8XOIkWKeGchNqDV6rU6L4YOHeo/q1Zaly5d7IILLrB58+ZZqVKlrHbt2n6nFeEhoM0aCoyUYaPpvwsWLIgGteXLl/fpX6pxp5W4FTzpnED8KatP+1dtsI6DOtBqn7VgwrfffuuZIE2bNk2zkIWuYwS0SFXEUeGgPxEuYtmcj1g2axDLho9YNudjblEIaecDBgzwO64KoD799FOvWTRx4kRbu3atZxXozocad72mQIECXqtLJw1p5xmnC8/ux0JfWq1w6tSp9t1336V5XlkIyjygAY9vh0KNxjvvvOMNRceOHT2zQNR4qMHQuaHpR0Fiv+rZNWjQwIvIX3bZZQS0SFpaPEEdO015VFaOshAC5cqV8/pRFSpUsJNOOinU7UzGNiH4XtcbDSSpzb3//vs9eNXU1KCWZvHixT3rJhZTtJEqiKMSB/2J8BDLAvtGLJu9iGWTEyUOsnEamE4c1f1QIHXVVVfZhRde6OnlarAfeughTzNXwWbVK9IKewcffLA3/vpd0s7jMw1sypQpvo9VH0f7WftY+19TMXRXL1jRUxexINhiNcn4CT7Hmop36aWX+lQvrSz5wQcf+HRINexAqrQJupOtaV8q0q9adcq00arOuiapo606jurkxWbtsOJwfNsEdbJ/+OEHO+KII7xd1sDF4sWLrWjRomlqorVs2dKDXtXZpE1AqiGOSgz0JxIDsSxALBs2YtnkxQBtNp48uiDp6/zzz/e7GgsXLrTbb7/dg9irr77a6xkpwFKNkNiMA1a5jY8nn3zSF7JQoKoVbXWBuuKKK+z000+3p59+2gvGK8hS1of2twpmqwFh/2cNBbba/2pA7r33Xr+rF9vgA8lMq9pqAQXd5VZH+48//rBrr73WOnTo4LUD27dv73XtWrRoQWcvjmKvL2pzdZ0/6qijPPvvyiuv9P2uNkKdDWV/aEqwpg4HK8+rTeAahVRFHBUe+hOJiVgWqYxYNhzEssmNW6hZKDYQUlaBVs7Tne0g20B3nJR6rukuQc0uPbf7XSWCqczTqpHvvfee173RBUxTvTp16uRF+5Xqr8fV6VAdKd1tUlFt1Ugj0yA+gkZg+fLl/vnW97qjpxUmlX2gxqJq1ap+h1WfdxoNJDNd+7WgjjrTZ511lg9yaErYwIED/dqkwFYBl2oF6mdNBdMK6Mic2IWJNA1V13wt3qLMp969e9vzzz/v13u1z5qep1W2NQhSrVo1XxE9WHWYNgGpiDgqPPQnEgOxLPAPYtlwEMsmP45MFgoCId3NmDlzphfH1gmhlQt18uhCFQRTasSnT59upUuX5oTJgoBWaf/K8FDgpM6DAqvu3bv7Kocvv/yy3/3WFLHdL4Aci/hQgKq7rI888oj/rOPQunVrq1Wrlr311lt2ySWXeCPfrVs3O/nkk+lEIGkoaFJmgTKdApoKrLqNTZo0iQZZN910k19zVLtO01Jr1qzp7cQhhxxCQJtJWqxF13dl9Wkf62vu3LmecaaAVt9rtXmtcP7aa69526FMKK04HIs2AamGOCox0J9IDMSySFXEsuEjlk0dtBxZbPjw4d54H3744X7yKKDVBatx48Ye7KpOiE6e5s2be72ooNGn8kTG7+ZNmzbNpxwFd611IVItHK0kLFppNVhxtW3btr7KoQr8777PWWU4fpRt8Oijj1qbNm18+p3u5qn+zYwZM3wVXGUd6DjpbutXX30V9uYCmabriWo0qqOs6V2xdM3R1C9lFChI0vVINDVS04O/+OIL/1kdPGWqIeO0uvmwYcPsscce8zZW13VNw9M+VmdB32sasNrk++67z9tkBbaq7Thnzpw070WbgFRAHJWY6E+Ej1gWqYZYNjEQy6YWBmjjbPdAqHz58j7VSIGrVlMV3YG69dZbfTqSpiCpMdfd1zFjxkTTzpkSk366CCk4Vd2VRo0a2dtvvx2dBnDOOed4jS6tbivqVIhqsaiAuQJe9nnWnAuaiqfGXYXjr7/+ev/sq/FW56Jfv37RwFb1c3RXUOcHkNPpeqKFWvQZ18q16qyNHTvWn9P1XgHVK6+8Ylu3bvXrka5VqhGlzz+BbPyceeaZvijC0qVLPbNJA0y6zigDTcdFA1FqB+rWreuv13XplFNO8dewyjBSDXFU4qA/kRiIZZHKiGUTA7FsaiG/OY5iaw3p4qXC/Oeee67fbb3zzjs9gFLKvxpw1evSc/qKRdp5xihjQIGoFrBQDZxnn33W63Q1aNDAf9YUC3UqdPdJd/g0ReO3337zRkX1o3QBQ/zPhY8//theffVVbzT02VYDrsZctYo09ULTInWsdOw0dVLZB3QmkEwUJCnLpk+fPrZ27VpvF84++2yvBaW6dTovlImjzp8K+etfTRlD5m3bts0zO5R1pgEmtcvKKuvatas1bdrUr0HqZKtepjI8VKNLmWiXX365NWvWzN+DRXWQKoijEgf9icRALAv8F7FseIhlU0+uCHNf4iL2g690cwVOK1eu9JUNTz31VE8vV0aCLlbPPPOMHXjggZwscexU6OKlToMuTqKf1Xno0qWLnXjiiZ5ZoNpdPXv2tC+//NKnXqjDobt9rDKcNfSZV2H4+vXre6M+ZcoUPx46XrFTNnQ+qIOhFaDVAHEMkIwWLFjgxfs1DUk1G2vXru0LKygbStkGykBTm6GFdlTXDhn34osveqbf999/b2XLlvV6gLreq41QRqCyDXQt0nVHQe7UqVO9Y/Hpp596B1ydDQ1ssMALUgVxVOKgP5FYiGWBfxDLZh9i2dTFAG2c6c7SrFmzvBFfsmSJB1BaRU+p6WrkVZeoQoUKPlVAQRUyR6sR6s52UOspuMuk7A5NQ9KdPXUoqlSp4q/VdAvVUVPNHC2goNewynD8rVixwu/w6VjceOONfrdVBebVYOuOX2xgq4ZE50mpUqVC3WYgXoJgSAsoKFDVtV41AxVkqVi/ajsqsK1Xr55988033gkvU6aM1/fiPMgcZRio/T3mmGM8u2z16tXWuXNnn26n46LAViveqi3QKuhqp9WxViag2oT+/fv7QFPsKrlAMiOOSkz0J8JHLItURiwbHmLZ1MYAbRypOHOvXr387qnuIOmuh1b1/Pnnn+2OO+7wu68Kqlq0aOFfqhuCjFORbGUWaOEETfsKVrAVBbHK8Lj55pv9YqW724ULF/Zjo6l4sbh4xY8uJzouWllY/yp41VQ82bhxow0ZMsQGDx7sjYlWfAaSNaDVSs8q5i8KsPr27ev1AzWooZXPFdhqoREV9Ed8dOzY0dtbTTXVisESDBoF/+r4aEq22uuKFSt6RoI6Hep4KzNBx46BJqQK4qjERH8iXMSySHXEsuEhlgVHLY4XMWUU6M62imZLnTp1fAqY7m4r0NI0MD2mu7Eq9o/MUUq/7jBpvyo41XFQvRWtKLx48WKvF6U7eaKpeWpUNCVj944FnYr4ngdqTNRQqIi5zom5c+d6TRzdAVQGgqZ9KfNAjcYll1wS9mYDmRZknInOAS0WojvdqhWoVbY1/VTXKdWEUsaTgl2dA7rDrec0jRiZo+wBLZyjwDYIaHVNCoLTILBV0Hvdddf5Y1pIR9kfWoVbbYToeBDQIlUQRyUW+hPhI5ZFqiKWDR+xLIQCOXEQJCGrKLMC19ik5BNOOMEL9+tipqBKtYsqVarkaec6wZB+umunxkCOPPJIu+qqq+yGG27wOixqHDQladCgQd6p0DERTTvSzySMx1+wT7VogqZEKpNGCyfozqqmxGgaxrx58/w1urunVW/V+VNNOyCn05QiZTYpGNJnX7SQjq5F11xzTTR40vfKxlEQpQ6eanYdffTR3kYgPu2CaqPFTqvbveaW6nGpw/3HH3/Ytddeaw0bNvSV54Oam0LdQKQC4qjERH8iPMSySGXEsomBWBbC0csAXbxiBSeBaq589tlnXoNl9wyF6tWr+8mjhRQ0XUa4s5ExCoxUA0pF+3W3SFPwVBRbP//yyy8eUKn+io6TAlfRCqt6jBUlsybTQLW31Fir0b7gggu8kVd2hxYTUUD7wgsveAF5UQOi1SbJ+kAy0NRfZTmpHQjaBk0D1pRUXe81/VRTxNSJU6aBzhVds9SxVjaarkvIPA1oqK3V197aaVH2k9pn1drUdUtThVVHLfbYAamAOCox0J9IDMSySHXEsomBWBbCAG06xa6UOnnyZBs1apQHt0uXLvUMhLPPPtvvqOo5ZSBoRcORI0faSSedZM2aNfMV9n799dew/4wcTQWy1RhMmzbNC/Vr3+pO06WXXup3knQXUPXUguOk2jjLly/3Wl5cvOKbaaCGQZ91rSisDoWCWq3aqdUkleGh1T1V1+7bb7/1qXkqIh/8HpAM54A+66oROHPmTL/uaIpYzZo1fZqYFnnR+XDffff5CtyqVafzJLgGBQMfyPxxUCdZU75Gjx7tP+tav3umn6Z+aZpw7OO6Fulnsg2QSoijwkd/InzEskh1xLKJgVgWsbjlmk7BB193Uz/88EMPaHUHW5kFt912m9cMUWOuei06eZSloN9RALx582YrV64cJ08mqf6NpiDpXzUKumsUTMXT1AtdoBRIaT/Pnj3bOxXvvPNOdBoYmQaZu8Oq2nNqCNQw6zP94osv2k033eSZBIGyZcva888/73dWmzZt6lNg1OFTpxBIBkHHLFgcR1OONOVU1xldhxTYKsDVYgpaREF69+7tK7EqsI19D2Qu60nUtp5++uk2YsQIv/4o6ylYJEHHR9+rrpeyPHbP9OA4INUQR4WP/kR4iGWB/yKWDR+xLHaXK0IxqXTTlBfdTdIqnlWqVLHp06d7LSKtpqc7H0pL19QkXdB0wdNdcJ1UTz75pF/0FHwFqetIf6aBqGHYsmWL/fjjj3bvvfd67RsdD9GFS3f/9LMubu+++y6dijjQPlU9Iq3srAyO4DjoTqruqupzrrpd6vCJMj+U9aEVJvX5VwCs6TJAMgVUsauXa0VnrXSu9kAZOOpQaxVWtREFCxb02lJBu4H40Sr02qfKKtD1SYNMLVu29LpcAbUXmroqWn2bgQ2kGuKoxEN/IvsRywL/IJZNHMSyCBBlZYAyCVSbSCeRMgqU7q+FFXR36f777/c73vXq1fPXKoDSz2rcZ82a5UXmCaYy3qn46KOPvD5atWrVrEaNGr64hRoSHQOtqqo73arNpdUmVSdNd7yDFQ/pVGSOsjvUkVOWgSiwVVaHOm1a3VZBrQLaILBVw/Lnn39GG/xChQqF/BcA8Q1oNT34/ffft99//90uvPBCvw4peFLnWjRVWPUClXWgenUq6n/UUUeFvflJ1z6oTdY1SB0GDTQNHDjQ22LVSNOgkzrfan/XrVvntdSCKdoEtkgVxFGJif5E9iOWBf6LWDZxEMsiFpHWv3j77bd95U7VZNH0liCVXAWzNb1FxbFVKFtTXpo3b+5Bk04iTQdr0KCBv1Yr7C1ZssSOOOIIT1enmHz6BReeJ554wutvFStWzOtuaSqS6qJpVVs1MDoWOg6603fOOef43XChU5F5urN65plneqZHp06dPGtDDbsKlas2lzI81MFQRy7IOli7dq2fM7HTMoBkoM/yxx9/7FNPdZ1R507ThaVHjx7WuXNnX0xE153LL7/czjjjjLA3OSmnggXtg/avBi6+//57H1RSe6sgVjUddW1SB1tT8dRWM9CEVEQcFS76E4mBWBb4B7FseIhl8W8ocbAPClh1gmhakQrzN2rUyOtBqZEeN26cN+4KlnQXSRctUdH4u+66yxdRqFChQth/QlJdvHRHSXeTdOFSUKri2aqZFnQu1JmYNGmS3+3TCojKLKBoefwEU18UqGpKxWuvveZ1cXROKIND9dL0nFYA1V0+rSypbBDd4VOHBEgm+qzffPPNnmmja5CuVbqLrXNEU4OVfab6jQqq7r77bu9w61pGxy5+bYKyO2Izma677jqfeqfrU0BTUfW6IkWKRDvbsdP4gGRHHBU++hOJg1gW+AexbDiIZfG/MOy+F7oAKTgdOnSo195SEKvVDS+55BIPqI4//ngPbnUCBYWbdWdc9VlKlizpU8L2dncE6RPsO3USFNQqi+DEE0+MXsDUiOgOn17XunVrr9Fy1llnRX+XO0vxo0bggw8+8Ppc559/vp1yyilei0iLWyiw1TQMdST0mDI+ggwPAloko02bNnnwqrYgENSm0/mga9UDDzzgUyRV7J/pR/FtE5T1pOuMrvuapq1BJNVKU/2uBQsWeAaUrv+qExhbK1BtMgEtUglxVLjoTyQWYlngH8Sy4SCWxf9C1LWXYEp3uZVBoFR/ueqqq/xOxg8//OAXK62wpzvbOoHUqHfv3t3vMun1r776KjVB4kyZBLqDrTvasXeaVDg7mLKnujh33HGHF9YOLl50KuK74q2CVn3utaqnKIDVQhU6B/S46uSoI6IGX50NfQHJSJlmCqQUWAUrrIoe07Vn2bJl/vPDDz8c8pYmh6A9DQYpdD1S5ofaa01FrV+/vmelKTNwwoQJHtTu7frPAAdSFXFU9qM/kXiIZYF/EMtmL2JZ7C8irxgqgq1GWVNeChQoEC0Qr39VI+roo4/21+nE0kmjelEq2Ky7HCo6r8BXdzTIOMi4vQWiulBp6pGCVRUx14IKwbQ7dS50p0+LJ6imWoCLV3zpmKhTp8VEgnNAjbnqE2lajD73V199tZ166qlpjgOQ08VmLgXXdi2SoM+/VrlVZo1qRYmuS4cddphfr4LqQVyL4tcmaAEFDV6o/pa89957/qXOg+o1arEXZag1adKEjCekLOKo8NGfSEzEskhVxLLhIpZFetDq/z/dqdAdJKXyK5hSbY+gzodOmHnz5nlxfq2sV6JECZ8iplogCqz0FdDvEUxl/uKl7IKNGzd6sfK6dev6dCR9r5WGdVwaN24c3c+qGXXrrbd648E0sKyxYcMGz65RB0LU8VADrk6EVvacPHmyHXLIIX5esMItknGFWwWwWshFn/nTTjvNFxhRh05tgrLTtBr6559/7sGV6tVxHYqPoE3o16+fB6xqd5Vl8J///MenqKojrRW2e/fubT///LOvQqy6gQpqyTxDqiGOCh/9icRFLItURCwbPmJZpAeLhO2WYfDSSy/5xSqY+tK2bVubOXNmdLXU+fPn+50n0UVLNVpULwSZE9sheOqppzyTQwGUaq4oSFI9LmUVdOnSxcaPH2+PPfaYrzocG7zSqYiP2KkXyvbQflfDoKl3qsWlc0Qr3gZ0DigbQSuABlkJQLKYOHGiL6xz8cUXe+bThx9+aIsXL/Z/5fnnn/cpkupMq2Ona5RW6UbmxF7PNTVbdTKD9vinn36yqlWr+r4Opp8qgP3ll1/sxRdf9FWJ1U4oOwRIFcRRiYP+RPiIZYF/EMuGg1gWGcEA7W5Uh0hFmxW46sTQXW7VK9J0JF20dLdVWQkKrFasWOH1irjDHT+qzfXCCy/4PlfRcn3/zDPP+F28YGELXcjefPNNX3RBWSGIv48++shr0qnzoHp0/fv395poqs2lTl/79u29dtHSpUtt7NixvhKxpsMAyRBEKUDS91o8QSvcXnnlld7JVidPd7y1uI4GNpQVpYVe1C5oAR4NggS1BpFxsdkCquH41ltv+ffBMXjuuec8S01tgtoDZakFv6PV0G+88UbviGjqHpBqiKMSA/2J8BHLItUQyyYOYllkVMpHArunjesOqgInnRCqP6T6UUGtKL1WdzgU8MaueEiNqIwZNWqUnXPOOdE7Q6oLpUBVGQeaeqFpGLqDpLtNOibKCOnQoYOvgHvUUUf5axB/OgZ33nmn3X777d5I6+6dsjo0/UWBrjp0b7zxhp8LCni1OjQBLXI6LQiia5CmHalNCKak6vquOlCactSiRQtf2OWGG26wRx991ANY1ZDSFElNVUV8OhdBm6yBpkWLFnmmgVY9Fx2XNm3aRDvfGvzQ1O0g+0BTWDU1TFPFgGRHHJU46E8kFmJZpCJi2cRALIvMSOmCFrHBlFYq/Prrr702kYrFK/1cd5Hmzp3rdzkkWFBh96Rjgqn0010kTS+KvUOnY6G72AqkVPtG2QT6atasmf34448eXKmwtuiipv0eTA9DfCxcuNAzOrR/b7nlFrv++uutT58+3mCrIdd0SWUcaHqYOoYDBw60ypUrh73ZQKZoAEP1F7WKqlZQ1eCGaggqgNL0SNWB0uf/jDPO8GBWj+tuuDqATEKJnyDbIwholV2gAQ61E1pAIVhRWG2EMgt0rJSZpiy1IKDVsVK7EDvoASQj4qjEQX8isRDLIhURyyYGYllkVsqWONi9VpdqsKxZs8brEXXr1s1X19MdVp0sWl1VNVuCu1CIj2BV2zlz5ngmh1aLVMOiRS3UkdCd7+bNm/trx4wZ43e7tQIxtViyhj7/yjRQ8XjdXdUCFwF1+NTQK6hVIMuqkkgWus5r0KJ169Zed+67776zzz77zL7//nufojp16lQv6K9pYCruH1CnW509nScU748v1eXSdeaqq67yBSv0s64/GuRQ9lPZsmX9dVp5XsGu2metvi2ayqfjUbJkyZD/CiDrEUeFj/5EYiGWRSoilk08xLLIsEgK2rlzZ/T7F198MXLaaadFpk6dGvnxxx8jX331VZrX9enTJ3L88cf763bs2BHSFiePrl27Rlq3bh39ecaMGZGKFStG+vXr5z/Pnj07UrVq1chVV10V+e233/yxjRs3Rm644YZIu3btIrt27Qpt25Pdli1bIhMmTIg0a9Ys0rRp0+jnPThfli5dGmnSpEnkggsuiGzfvj3krQUy79FHH43UqFEjMn/+/DSPz5s3L9K+fXu/NnXp0iVy9913ezsxceLEyIcffhh54okn/Pd++OGH0LY9WU2aNClSs2bNSK1atSKff/65P6brvtrnyy67LNKoUaPIzz//vMfv0T4jVRBHJQ76E4mHWBaphlg28RDLIjNSKoNW9Z+CTAL92SqG/Z///MeLM992221pXqti8Vr5Vmnnuquku66vvPIKq9tmwtatWz17Q1kcyizQ3T5R0X7dYdIxuOmmm3xanmqkVahQwbMMtM9VU0d3/jQtbPc6X8j8CreiVT21X7Vwgj7zRxxxhC8qIsE+19RI/Y6KyQM5mTKdlNGka70yz/QZl+DaotVttbCOzgdl4ygLQdkJykxQlpoyo1jhNvP2dj1//PHHPctP2U+a/qXsDl2vdEy0uIuOxfvvv0+9QKQc4qjEQH8icRDLIpURyyYGYlnEU8oUO9LFaOTIkXbFFVd4o6yTSFPDVq5cGa3vEdQM0ZcWVtCqqgqoVKclCABipzIhfVT4WnWgtGKqjoXqovXu3dunV+h4qAHRvr3jjju8JpQuWqrhpQbn6quvjtZKo0ZX5gWfY9W80arCmu6lmkQ6PkFtIjUeWvFTga2Oj36nTJkyYW86kGnqyKkmlBZM0EIKsntgdcwxx9jll19u3377rU9H6t69u9fuOuSQQ3wKElOE4xvQauEK1ULTlFMtlKB6XZrypQ6EjoP+1TF56KGHfHCDhSyQioijwkd/InEQyyKVEcsmBmJZxFvKZNAqQFUxZl2Mpk+fbnXq1PHHVTz+l19+8WwEBazBSaZC2yqsPWDAgOh7EEzF5+Kl+lwKWN9++2279NJLfeVCUcdCX7rDd/PNN+9Ro0sXuaA2C9Jv907BxIkTfZEEBbLKOBg0aJDVrVvXs290N1V3W3VntUCBAt7JA5KJajbefffdXo9Ld7djO2yx13oNgCxZssQzz8g6yxoaYFJ7oHb6vPPOi7YJuv5MmjTJB5aCwDYWbQJSCXFUYqA/ES5iWeAfxLKJg1gW8ZL0Z+eiRYv8zrWyDfThnzdvnrVq1cp69Ojhz9977722du1aL6qtE0rTlHThUmHtgw8+OM17EUxlXNAQaL+rOLl+rlKlil+wNA1PlPGhLwWxmrKxbt26NO/BxStzgs+v/tUdPu3jBx980O655x5r2bKlP6ci8tr/mnah7INgcQWdQ0AyUcF+BVPvvvuuT0EKVjaXoPMnyjI46KCD/HsC2viIvS+s/a+MNE0P1hQwDTwFbYKC2rPOOsszn4YNG+Yr28aiTUAqIY4KF/2JxEAsC/yDWDY8xLLIKkk/x0mNtC5Y77zzjs2YMcNT+XUXScGt7qbq5NHqhpoC07RpU6/JoqBKdb4GDx7s78Gd7vhQBoHuXvfp08dOOeUUnwKgO00vvfSSrzSsx9WxUJ00rb4aNCTIHDUamtqiBvnss8+26tWr+4qR6jjUrFnTO3Cqk6PperVq1fKsAzUWF154oTcoyg5RtgiQbHQdUlvQrl07//maa65Jk32gu9p//vmnnXDCCf4zbUHmxWZuaFqwpmxrkENZBWp7NS2sY8eO3jYHHW+12Vr9NpjCB6Qq4qjw0J8IF7EssHfEstmPWBZZKekHaNUo6y5G/fr1ve6W7mRr0QRdmHr16uUnly5o48aN8wBXF60DDjjArrvuOmp1ZUGtHAVL2v+igPb888/3DoY6Fbp4qSaLshCo0RUfPXv29M5bsWLFbM2aNV5IXh0F3UlVY6LjMWHCBP+3YcOGvsCFpoRp2t4ff/zhjT71iZCKga2uO1p4Z9q0aTZixAh/jmtR5gUBraahKvNPWWgXXHCBP6bFi5TtpEGOTp06Retr6iuo6UibgFRGHBUe+hPhIZYF/h2xbPYilkVWSvoc93LlyvkUsI0bN/odCwWxaqRVs0s1W7TqrU4YPaesA6Wma3qSgijdcSKYypi9lTbWFC9dmObPnx99TFPFGjRo4HXSlPqvu0yx78HFK+OUSfDmm2/6PtW+1XSvypUre1Fy3dlTofjDDz/cPvroIytVqpRVrVrVMz1Klizptev0ewS0SKXAVplRypBSB1Btg2oHDhkyxNsRxK9N0D7WwhbKctIq2moTtIiC2ge1BRoA0bRhZUypYxEEw0FgC6QC4qjEQn8iHMSywP4hls16xLLIDkk5QKsPfiydODqBjjjiCF/JUzWLFOQqqFLNIl24unbtusf7UBMkY2IvPFowQQ2EKJAqXLiwB1Xfffdd9PW606SVb5X9oZWIJVj9FhmjwuQqBK8sDk39UhaHpoNp5cig9o0yP37//XcvMK9GXZ0HZSQsXbrUp+dpsQUg1QJbZUhpsRG1Gco2UGcPmRdcz5V1tnjxYh/IUFaBFtRRe/zCCy/YBx984MFvkH0wfPhwu+2226LvQd00pAriqMRAfyJcxLJA+hDLZi1iWWSHXJG93aJPkpogqvOhKUWqwaW7q/pZqeYq4q8gSqn/auA1VWbmzJn+L8Fs/Pa/7nKrgVDdGzUSKpr99ddfexF/NRSnnXaaHXvssd7R0O+pcLZ+l9UMM+fpp5/24FR38fQZV22cYCXnJ554wheveOSRR6KvV2dOU8M0JUzniM4DZYkAqVrjUStCK8jSFElkTmwGn7ILtFiCVhLWder000/3x1evXu2rzqu9btOmja9GHBvAMjUYqYQ4KjHQnwgXsSyQccSy8UUsi+yUVAO0sSePprRMnDjRli1b5ifRZZdd5o/rZNKdDgVSSjv/5ptvrFq1an7HiZog8aO6K5qSpM7E+vXr/e73Lbfc4tO+Fi5c6J0O1WvRFCTVkNIFTneaYgNipJ+ybFSPrmLFil6H7uijj04zFUPBrKZCKgtHtGiC6nepQ6GOhxqZsmXLhvgXAOHT9EidF4gfda41aPTWW2/5lDtNUVXHIaABKLUPq1at8imtujYBqYw4Kjz0J8JFLAtkHrFs/BHLIjsk1QBtQEGq0skVVKk2l2oSaeVOrfCpVVVXrFjhQZWCKTXuo0aN8kwDgqn4mDx5sj388MPeedBduwULFtgll1ziHYYbbrjB73Jrf+vut+4maUqA9jt3luJD0x61irDq4agzpwwCZSHoS8dDj8+aNcvrqOlLFMxqaiR1ugDEm4JYTQW77777fIqqAtvnn3/eM5369u0bfZ2mqT7zzDO+0BHZf0hlxFGJgf5EeIhlASQSYllklxw/QKsPf/PmzaPp+7pjoTpQqvWhuxY6kXTnW0GTgtYLL7zQi8bv2LHDvvjiC69ppJOHjIOM233fvfbaa15/RdkeClpVn0WrSWr14UcffdTT/+vWrWsnn3xy9HcIZuMf2GoVZ93ZU6dCBcq1Cu6pp57qGTabNm3yc+Crr77y+nZ6vHz58mFvNoAkpCzALl262NVXX+0DS6qhqcc0NVh1M2MXNQowRRuphDgqfPQnEg+xLIBEQSyL7JI3p9dXUcMc2xgrlV93LqZOneq1QHT3W5kFtWvX9teqcVcWgorGqyEXTp7MCQJRpfirwxA8pjvaqh2lAv66cKlemlZbVa00BVWxHQs6FfGlYFY1urSysBaxUIBbr1696Oddd/5EU8QAIF72Njhx+eWXW4ECBaxjx47+vOqi6TFRncBWrVp5gBuLNhmphDgqXPQnEhOxLIAwEMsiTDl6gFZ3q2vUqOFBqVbP03QjBU7nnXeejR071jMPrrvuOi/SrPRzBbmqGaXpSbE4eTImNhAdN26c9e/f36cgKQNBx2bz5s02bdo0a9eunR122GFeM61+/frWuHFja9KkSdibnxKBraZ6KbBVdsdJJ53knTs+7wCyShDQTp8+3Vfa1rVflG2mDD91sEXtggLbLVu2+KJHZJ0hFRFHJQb6E4mLWBZAdiOWRZhybImD2Dpbuquq6V5KNVcxeU1PWrlypTfewQmlu916je6I9+vXj0yDONLdIk39UsB01VVXRR+fNGmSTwFQ9oGmJmn/65ioLov2P5kG2TtFrFy5cj4dj1VtAcSTpl0rw+yII47wwFR1Mc8++2zPJmjdurVnmAVGjx7tdQX1uAY8tLiR2gG1CQS2SFXEUeGhP5EzEMsCyErEskgUOXaANrB8+XIrU6aMB7FDhw71QEt3WbWKqlZc1TQwnXBaAXft2rV+QrHKbcZpStdPP/3ktZ403a5Zs2a+QMKnn37qmQVasTCYcqTFE1TY/9dff/WFFUS1u7T/qZUWzmILmp6nmmpBjTUAyIzOnTv7AkZqF3Tt1yrmquWoTAK1DVrQqGXLltHAVovrXHTRRR4Ea6EF1dUU2gSkCuKoxER/IvERywLICsSySCQ5LqJQIBTQFCPdxZ4yZYqdeeaZ1qZNG797ocUU5s+f73e7dUdDJ4rqdGnakoIpBV0EU+mnO9aa5qVi/D/88IN3LpTRoUyO66+/3j7++GM/FsroEE0R0yrE//nPf7xOVxDMav9z8cr+KWLKBtEUDAW2AJBZ1157rf34448+gKSFEm688UavmdmoUSO/zmigSTU1lR24Zs2aaPCqjIRevXqlyRSkTUAqII5KHPQnch5iWQDxRiyLRJOjMmhj71IrONKdDt3RPu644/zOhxZWUAbC888/76994IEH9pgCw3SwjNHFSneLNJ1Lqf+xF6AhQ4Z4QKtVh5XZoVpRp59+ugevu2P/h2vbtm1e4BwAMkMB6fbt2z1gPeigg6KPf/vttx7IasBj5MiRnnGmGl0XX3yxVa9e3VdB37p1qy+owBRtpBLiqMRBfyJnI5YFEA/EskhEOWqANtC3b18bMWKE3+nQ3esPPvjAF1Lo0qWLnXbaaR5UKdj9448//LVMgckcTfXShUidCqX2q/5W0GlQ2r+m6ylw7dmzp3culOGhzoVWWuViBQDJRVO9Vq1a5df+2Ey0YMBDi+do5e158+bZhAkTPCtQix+p3Tj88MO9fWaKNlIJcVRioj8BAKmJWBaJ6r9V8XMQ1eN6//33rXv37tawYUN/7KabbvK6IN26dfMvrXCru6szZszwu+HIHF2YtGqtpndJ0Km44447vC7XI4884qsP33nnnR7AquOhYFdBr6aCAQCSw9KlS+3zzz+3Fi1a2O+//24lS5bcY4qvFnFRPS61HcpO0wIKWiVdC/FocEqvj12YB0h2xFGJh/4EAKQmYlkkshz3iVIaugr0685F8HP+/Pk9O0G1QJRxoBNGdUP0JaSdZ4zuJGlfq1aa9mXshUgp/brrpLtHqs2lL2UcaIpAp06drFixYnbCCSeE/ScAAOLo6KOPtldffdU6dOjg7aqCWy2sEwgyCZT5p4xAZaApqFUtzSDDQG0LAS1SAXFU4qI/AQCpiVgWiSyhK9vvrfqC7nCIpoqJgikFVaIVblXkWQXktQqfEExlnAJTFcfWAhYzZ870x4ILkVYdVm0udShEnQgV1FZdtcKFC/sFT69VRwQAkDy0qvlTTz3l08IU4Gr184ACV7Xd+ipYsGA04I2d/sWiOkgVxFGJgf4EACAWsSwSVcJ+snRXIjgJVJhZXzpxFOQ2b97cizYr+yAIqnQCKdtg0KBBfsIMGDDAnyOYyjjtU02zO/744+2bb77xFYcDRYsWTbOC6hdffGFHHXWUL2oR/K5wZwkAkjOw1VTsd955J01gG2QdKDNtw4YNVqFChbA3FQgNcVT46E8AAPaGWBaJKCGjPp0UwV2JZ555xqZMmeInjAInrYKrWlGqFzJ48GD78ssvPU191qxZXsS/Tp061rhxYw+EkTm6MKlO2vXXX++rHGral+qjqe5KLGUcqE6a7i5VrVo1+rsAgORVo0YNX/RIK9uKanUFWQZ33323bdq0ya688sqQtxIID3FUuOhPAAD+DbEsEk1CDtAGQamCqeHDh3tNLmUgaDW9xx9/3G677TZr27atn1B6/q+//vKgKrgDrgUXVFMquGtOkJs5lStXtgceeMCneukipU5G3bp1fb8vXrzYswuUkaAC2gqEtd9J+weA1Mg+CAJbXfeVkaZ2WoMgykhQ1hlTg5HqiKPCQX8CAPC/EMsikeSK7K0wUwJQoKr6W61bt/Zi/YFRo0bZ/fffb71797YmTZr4Ywq2Vq5c6TVChg0bZm+99Za99tprduyxx4b4FyQXBacfffSRdy5EKxGrVpqm42manhZTUJYIqxkCQOrR9Gy12Vu3bvXswLFjx9ImADGIo8JBfwIAsD+IZZEIEvaTtmXLFlu4cGGak0HB7UUXXWSffPKJjR8/3s466yx/Xqvg3nvvvT4lSQsr6M43wVR86W7Sueee64tYaDViZRWoQ1G9enWrVKlSmpWJAQCpl32ggY7+/fv7KvTB4ka0CcB/EUeFg/4EAGB/EMsiESTspy0o0v/zzz97bS7Vi1Lwqq8DDjjAHytUqJC/VnVCevbsadu2bfOMhNhFFxBfWl1YX7tTsMvFCwBSV82aNX1AQ9OACWiBvSOOyl70JwAA+4tYFmELtcDV6NGjPYNgb8qVK2e1atWyZ5991qZNm+bTjoI74ZqupBpRsRRU6S43wVTW21tVDGqlAQAU0KqNIKAF9o04Kr7oTwAA4oVYFilZg/ann37ymk+tWrXy1fJKly4dfS5YHEGbduutt/qKqo0aNfJgSauprl271muC6KTRayjaDwAAAKQW+hMAACBZhLpImAoxt2/f3gMrBVW6ax2IDZT69u1rCxYs8DRzLaagov4KplhNDwAAAEhd9CcAAEAyCHWANgiq2rVrZ02bNk0TVAV3vWX58uW2aNGiNKuvUhMEAAAAAP0JAACQ04U+QCtz5szxO9+7B1XaNK28qhVVVdT/rbfeitbtYhoSAAAAAKE/AQAAcrKEGKCNvfOt6UnXX3+9HXnkkR5MderUyaceaQGAfPnyhb2ZAAAAABIQ/QkAAJBTJcwA7e7Tk+rWrWv9+vWzbdu22ZgxYzyYYhoSAAAAgH2hPwEAAHKihBqgjQ2q1q1bZ8ccc4yNGjWKYAoAAADAfqE/AQAAcpqEG6CV2bNnW//+/e3FF1/0IIpgCgAAAMD+oj8BAABykoQcoBVtlgr3E0wBAAAASC/6EwAAIKdI2AHa2KAKAAAAANKL/gQAAMgJEnqAFgAAAAAAAACSWe6wNwAAAAAAAAAAUhUDtAAAAAAAAAAQEgZoAQAAAAAAACAkDNACAAAAAAAAQEgYoAUAAAAAAACAkDBACwAAAAAAAAAhYYAWAAAAAAAAAELCAC0AAAAAAAAAhIQBWgAAAAAAAACwcPwfIDk1UqtbwJA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34" y="1701660"/>
            <a:ext cx="6923112" cy="49122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567768-4858-DE55-E742-8F10FE67637F}"/>
              </a:ext>
            </a:extLst>
          </p:cNvPr>
          <p:cNvSpPr txBox="1"/>
          <p:nvPr/>
        </p:nvSpPr>
        <p:spPr>
          <a:xfrm>
            <a:off x="964834" y="1268760"/>
            <a:ext cx="627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Сравнение результатов </a:t>
            </a:r>
            <a:r>
              <a:rPr lang="en-US" dirty="0"/>
              <a:t>CV </a:t>
            </a:r>
            <a:r>
              <a:rPr lang="ru-RU" dirty="0"/>
              <a:t>на разных метриках</a:t>
            </a:r>
          </a:p>
        </p:txBody>
      </p:sp>
    </p:spTree>
    <p:extLst>
      <p:ext uri="{BB962C8B-B14F-4D97-AF65-F5344CB8AC3E}">
        <p14:creationId xmlns:p14="http://schemas.microsoft.com/office/powerpoint/2010/main" val="411626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4376F-217D-E45C-F712-1A697632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Результаты и выбор итоговой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B1B86-F391-11C2-6A30-011B13910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После первичного сравнения лучшие результаты показали ансамблевые методы.</a:t>
            </a:r>
          </a:p>
          <a:p>
            <a:pPr marL="0" indent="0">
              <a:buNone/>
            </a:pPr>
            <a:r>
              <a:rPr lang="ru-RU" sz="1600" dirty="0"/>
              <a:t>Финальной моделью выбран </a:t>
            </a:r>
            <a:r>
              <a:rPr lang="en-US" sz="1600" dirty="0" err="1"/>
              <a:t>GradientBoostingClassifier</a:t>
            </a:r>
            <a:r>
              <a:rPr lang="en-US" sz="1600" dirty="0"/>
              <a:t>, </a:t>
            </a:r>
            <a:r>
              <a:rPr lang="ru-RU" sz="1600" dirty="0"/>
              <a:t>так как он дал лучшее качество по </a:t>
            </a:r>
            <a:r>
              <a:rPr lang="en-US" sz="1600" dirty="0"/>
              <a:t>ROC-AUC </a:t>
            </a:r>
            <a:r>
              <a:rPr lang="ru-RU" sz="1600" dirty="0"/>
              <a:t>и хороший баланс между </a:t>
            </a:r>
            <a:r>
              <a:rPr lang="en-US" sz="1600" dirty="0"/>
              <a:t>precision </a:t>
            </a:r>
            <a:r>
              <a:rPr lang="ru-RU" sz="1600" dirty="0"/>
              <a:t>и </a:t>
            </a:r>
            <a:r>
              <a:rPr lang="en-US" sz="1600" dirty="0"/>
              <a:t>recall.</a:t>
            </a:r>
          </a:p>
          <a:p>
            <a:pPr marL="0" indent="0">
              <a:buNone/>
            </a:pPr>
            <a:r>
              <a:rPr lang="ru-RU" sz="1600" dirty="0"/>
              <a:t>Итоговые результаты на </a:t>
            </a:r>
            <a:r>
              <a:rPr lang="en-US" sz="1600" dirty="0"/>
              <a:t>test set:</a:t>
            </a:r>
          </a:p>
          <a:p>
            <a:pPr marL="0" indent="0">
              <a:buNone/>
            </a:pPr>
            <a:r>
              <a:rPr lang="en-US" sz="1600" dirty="0"/>
              <a:t>Accuracy: 0.8765</a:t>
            </a:r>
          </a:p>
          <a:p>
            <a:pPr marL="0" indent="0">
              <a:buNone/>
            </a:pPr>
            <a:r>
              <a:rPr lang="en-US" sz="1600" dirty="0"/>
              <a:t>F1-score: 0.7177</a:t>
            </a:r>
          </a:p>
          <a:p>
            <a:pPr marL="0" indent="0">
              <a:buNone/>
            </a:pPr>
            <a:r>
              <a:rPr lang="en-US" sz="1600" dirty="0"/>
              <a:t>Balanced accuracy: 0.8009</a:t>
            </a:r>
          </a:p>
          <a:p>
            <a:pPr marL="0" indent="0">
              <a:buNone/>
            </a:pPr>
            <a:r>
              <a:rPr lang="en-US" sz="1600" dirty="0"/>
              <a:t>ROC-AUC: 0.9294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A690C-8FC6-76C8-A4DA-726BCAC2B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AF4C9E-151F-B3E7-17FA-39CECDCD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72" y="3780409"/>
            <a:ext cx="8782376" cy="24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5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611560" y="2852936"/>
            <a:ext cx="7990656" cy="165618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ru-RU" dirty="0" err="1">
                <a:solidFill>
                  <a:schemeClr val="bg1"/>
                </a:solidFill>
              </a:rPr>
              <a:t>пасибо</a:t>
            </a:r>
            <a:r>
              <a:rPr lang="ru-RU" dirty="0">
                <a:solidFill>
                  <a:schemeClr val="bg1"/>
                </a:solidFill>
              </a:rPr>
              <a:t>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4300616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мл преза.potx" id="{8594F232-0AED-4C26-BB42-A982A54F5D94}" vid="{AFE15DEC-F9CF-4E56-AFF0-FA3C46E5712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мл преза</Template>
  <TotalTime>41</TotalTime>
  <Words>676</Words>
  <Application>Microsoft Office PowerPoint</Application>
  <PresentationFormat>Экран (4:3)</PresentationFormat>
  <Paragraphs>99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Тема Office</vt:lpstr>
      <vt:lpstr>Adult Census Income Prediction</vt:lpstr>
      <vt:lpstr>ПОСТАНОВКА ЗАДАЧИ</vt:lpstr>
      <vt:lpstr>КАКИЕ ДАННЫЕ МЫ ИМЕЕМ</vt:lpstr>
      <vt:lpstr>разведочный анализ данных</vt:lpstr>
      <vt:lpstr>разведочный анализ данных. Plots and heatmap</vt:lpstr>
      <vt:lpstr>Preprocessing и Feature Engineering</vt:lpstr>
      <vt:lpstr>Использованные модели</vt:lpstr>
      <vt:lpstr>Метрики и валидация </vt:lpstr>
      <vt:lpstr>Метрики и валидация. Результаты 5foldcv</vt:lpstr>
      <vt:lpstr>Результаты и выбор итоговой модели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Камиль Шаймиев</dc:creator>
  <cp:lastModifiedBy>Камиль Шаймиев</cp:lastModifiedBy>
  <cp:revision>1</cp:revision>
  <dcterms:created xsi:type="dcterms:W3CDTF">2026-05-16T07:45:23Z</dcterms:created>
  <dcterms:modified xsi:type="dcterms:W3CDTF">2026-05-16T08:27:18Z</dcterms:modified>
</cp:coreProperties>
</file>